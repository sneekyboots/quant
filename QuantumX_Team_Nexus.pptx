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nuraag Nand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5901DA-7AA8-44C7-A55D-51DBD9EA92E3}">
  <a:tblStyle styleId="{2C5901DA-7AA8-44C7-A55D-51DBD9EA92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23T08:59:20.755">
    <p:pos x="172" y="2669"/>
    <p:text>must remove the 45 seconds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43a3709fa_8_0: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g3e43a3709fa_8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ENERGY. Say the name clearly: 'We are PULSE-Q.' Pause. 'When Delhi's AQI hits 400 and 20 patients flood your emergency room in 30 minutes, a clipboard and gut feeling is not a triage system — it's a gamble. We built the alternative.' --- TIMING: 10 seconds. Do not explain the acronym yet. Just own the room and move.</a:t>
            </a:r>
            <a:endParaRPr/>
          </a:p>
        </p:txBody>
      </p:sp>
      <p:sp>
        <p:nvSpPr>
          <p:cNvPr id="83" name="Google Shape;83;g3e43a3709fa_8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438819776_0_244: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e438819776_0_2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'Picture Delhi in January. AQI 400. Your emergency room gets 20 patients in 30 minutes — all respiratory distress. What happens today? The nurse has a clipboard. She sorts by whoever grabbed her attention first. Two critical cases end up in general ward. An ICU nurse with eight years of experience is sent to someone with a mild cough. One ventilator goes to a stable patient. This is not a resource problem — it's an optimization problem.' --- Point at each stat card as you say it. Pause before the last line: 'That is the gap PULSE-Q fills.' TIMING: 25-30 seconds.</a:t>
            </a:r>
            <a:endParaRPr/>
          </a:p>
        </p:txBody>
      </p:sp>
      <p:sp>
        <p:nvSpPr>
          <p:cNvPr id="98" name="Google Shape;98;g3e438819776_0_2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438819776_0_268: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g3e438819776_0_2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'Picture Delhi in January. AQI 400. Your emergency room gets 20 patients in 30 minutes — all respiratory distress. What happens today? The nurse has a clipboard. She sorts by whoever grabbed her attention first. Two critical cases end up in general ward. An ICU nurse with eight years of experience is sent to someone with a mild cough. One ventilator goes to a stable patient. This is not a resource problem — it's an optimization problem.' --- Point at each stat card as you say it. Pause before the last line: 'That is the gap PULSE-Q fills.' TIMING: 25-30 seconds.</a:t>
            </a:r>
            <a:endParaRPr/>
          </a:p>
        </p:txBody>
      </p:sp>
      <p:sp>
        <p:nvSpPr>
          <p:cNvPr id="108" name="Google Shape;108;g3e438819776_0_26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43a3709fa_8_13: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3e43a3709fa_8_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'Picture Delhi in January. AQI 400. Your emergency room gets 20 patients in 30 minutes — all respiratory distress. What happens today? The nurse has a clipboard. She sorts by whoever grabbed her attention first. Two critical cases end up in general ward. An ICU nurse with eight years of experience is sent to someone with a mild cough. One ventilator goes to a stable patient. This is not a resource problem — it's an optimization problem.' --- Point at each stat card as you say it. Pause before the last line: 'That is the gap PULSE-Q fills.' TIMING: 25-30 seconds.</a:t>
            </a:r>
            <a:endParaRPr/>
          </a:p>
        </p:txBody>
      </p:sp>
      <p:sp>
        <p:nvSpPr>
          <p:cNvPr id="118" name="Google Shape;118;g3e43a3709fa_8_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43a3709fa_8_36: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3e43a3709fa_8_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'PULSE-Q has four stages. One — all patient data is encrypted with post-quantum cryptography. It's secure against classical and quantum attackers. Two — a Quantum SVM scores every patient's urgency. We'll explain how in a moment. Three — a QUBO optimizer assigns beds with a mathematical guarantee — no conflicts, ever. Four — in Phase 2, we extend the same framework to staff assignment. The whole thing runs in under 45 seconds. And the exact same code compiles to run on real quantum hardware.' --- TIMING: 25 seconds. High-level only — slides 4 and 5 have the depth.</a:t>
            </a:r>
            <a:endParaRPr/>
          </a:p>
        </p:txBody>
      </p:sp>
      <p:sp>
        <p:nvSpPr>
          <p:cNvPr id="143" name="Google Shape;143;g3e43a3709fa_8_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43a3709fa_8_79: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g3e43a3709fa_8_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'The hardest part of triage is ranking patients when everything is wrong at once. A standard algorithm looks at blood pressure, then oxygen, then temperature — one by one. Our quantum kernel does something different. We take four patient features and encode each one into a qubit using a rotation gate. Now when we compare two patients, we're comparing them in a 16-dimensional space — simultaneously. The kernel value K-of-xi-xj is literally the probability of measuring the all-zero state after running the quantum circuit. That number tells us how similar two patients are. The output is a single urgency score between zero and one for every patient. That score is what feeds the optimizer.' --- If asked: 'Why not just use a classical RBF kernel?' Answer: 'RBF doesn't capture the correlated feature interactions between AQI and SpO2. Our kernel is specifically structured for the feature map of clinical + environmental data.' TIMING: 25 seconds. The analogy matters more than the equation.</a:t>
            </a:r>
            <a:endParaRPr/>
          </a:p>
        </p:txBody>
      </p:sp>
      <p:sp>
        <p:nvSpPr>
          <p:cNvPr id="184" name="Google Shape;184;g3e43a3709fa_8_7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43a3709fa_8_109: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3e43a3709fa_8_1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'Once we have urgency scores, we solve the allocation as a physics problem. We write a function — called a Hamiltonian — where low energy means: critical patients in the best resources, every patient has exactly one bed, no ward is over capacity. We run Simulated Annealing to minimize that energy — it converges in under two seconds. --- Now here is where it gets interesting. When we first ran this system, there was a bug. The penalty term alpha was hardcoded at 20. The optimizer kept assigning the same patient to both ICU and the ventilator unit. Was the optimizer wrong? No. It found the actual lowest energy state — the formulation was wrong. We went back to the math and derived alpha from first principles. For surge conditions it comes out to around 161. With that value, double-assignment is not just unlikely — it is mathematically impossible.' --- That derivation is your strongest intellectual contribution. Pause on it. TIMING: 35 seconds. This is the densest slide — take your time.</a:t>
            </a:r>
            <a:endParaRPr/>
          </a:p>
        </p:txBody>
      </p:sp>
      <p:sp>
        <p:nvSpPr>
          <p:cNvPr id="220" name="Google Shape;220;g3e43a3709fa_8_10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43a3709fa_8_127: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g3e43a3709fa_8_1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'A bed without the right nurse is useless. Stage 1 — which works today — assigns patients to beds. Stage 2, which we build in Phase 2, assigns staff to patients. But here's the critical constraint: the two stages are coupled. If a patient is assigned to ICU in Stage 1, only ICU-qualified nurses can be assigned to them in Stage 2. A general nurse floating to the ICU is penalized heavily in the optimizer. We go from 24 variables in Stage 1 to 96 in Stage 2. That fourfold increase in problem size is actually why quantum matters more at scale — classical solvers degrade badly as variable count grows. We also model nurse fatigue: a nurse seven hours into an eight-hour shift has a lower effective weight. No clipboard system accounts for any of this.' TIMING: 25 seconds.</a:t>
            </a:r>
            <a:endParaRPr/>
          </a:p>
        </p:txBody>
      </p:sp>
      <p:sp>
        <p:nvSpPr>
          <p:cNvPr id="240" name="Google Shape;240;g3e43a3709fa_8_1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43a3709fa_8_153: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g3e43a3709fa_8_1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270" name="Google Shape;270;g3e43a3709fa_8_1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e438819776_0_285: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g3e438819776_0_2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303" name="Google Shape;303;g3e438819776_0_2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438819776_0_375: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g3e438819776_0_3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313" name="Google Shape;313;g3e438819776_0_3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438819776_0_401: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g3e438819776_0_4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323" name="Google Shape;323;g3e438819776_0_4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438819776_0_414: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g3e438819776_0_4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333" name="Google Shape;333;g3e438819776_0_4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e438819776_0_424: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g3e438819776_0_4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343" name="Google Shape;343;g3e438819776_0_4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e438819776_0_388: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g3e438819776_0_3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Four differentiators — one sentence each, move fast. 'First: mathematical guarantee. Alpha is computed, not guessed. Double-assignment is impossible by proof. Second: AQI coupling. When the air quality crashes, our urgency scores update automatically. No other triage system does this. Third: QPU portable. This is not a simulator project. The same code that runs on your laptop compiles to real quantum hardware. Fourth: India-first. We designed for Delhi surge reality, NAQI air quality tiers, and Ayushman Bharat categories. The National Quantum Mission has six thousand crore rupees looking for exactly this kind of applied quantum use case.' TIMING: 20 seconds. One breath per point.</a:t>
            </a:r>
            <a:endParaRPr/>
          </a:p>
        </p:txBody>
      </p:sp>
      <p:sp>
        <p:nvSpPr>
          <p:cNvPr id="353" name="Google Shape;353;g3e438819776_0_3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e43a3709fa_8_184: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g3e43a3709fa_8_1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'Here's what we're asking you to believe today. First — this system is built. Not a concept, not a mockup. The QSVM runs. The QUBO optimizer runs. The dashboards are live. Second — we're not overclaiming. We know we can't prove quantum speedup on a simulator. We're claiming better optimization quality under surge conditions, and a system that's ready for real hardware the moment it's available. Third — the dynamic alpha derivation and the two-stage staff QUBO are genuinely novel. We haven't seen this combination at any hackathon. Give us Phase 2. We'll show you the full system.' --- CLOSE STRONG. Make eye contact. Stop exactly on time. TIMING: 15 seconds.</a:t>
            </a:r>
            <a:endParaRPr/>
          </a:p>
        </p:txBody>
      </p:sp>
      <p:sp>
        <p:nvSpPr>
          <p:cNvPr id="363" name="Google Shape;363;g3e43a3709fa_8_1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438819776_0_325:notes"/>
          <p:cNvSpPr/>
          <p:nvPr>
            <p:ph idx="2" type="sldImg"/>
          </p:nvPr>
        </p:nvSpPr>
        <p:spPr>
          <a:xfrm>
            <a:off x="-375" y="0"/>
            <a:ext cx="3000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g3e438819776_0_3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 'Here's what we're asking you to believe today. First — this system is built. Not a concept, not a mockup. The QSVM runs. The QUBO optimizer runs. The dashboards are live. Second — we're not overclaiming. We know we can't prove quantum speedup on a simulator. We're claiming better optimization quality under surge conditions, and a system that's ready for real hardware the moment it's available. Third — the dynamic alpha derivation and the two-stage staff QUBO are genuinely novel. We haven't seen this combination at any hackathon. Give us Phase 2. We'll show you the full system.' --- CLOSE STRONG. Make eye contact. Stop exactly on time. TIMING: 15 seconds.</a:t>
            </a:r>
            <a:endParaRPr/>
          </a:p>
        </p:txBody>
      </p:sp>
      <p:sp>
        <p:nvSpPr>
          <p:cNvPr id="400" name="Google Shape;400;g3e438819776_0_3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 name="Google Shape;13;p2"/>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 name="Google Shape;14;p2"/>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479" y="1597819"/>
            <a:ext cx="5830759"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 name="Google Shape;17;p3"/>
          <p:cNvSpPr txBox="1"/>
          <p:nvPr>
            <p:ph idx="1" type="subTitle"/>
          </p:nvPr>
        </p:nvSpPr>
        <p:spPr>
          <a:xfrm>
            <a:off x="1028957" y="2914650"/>
            <a:ext cx="4801801"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8" name="Google Shape;18;p3"/>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3"/>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 name="Google Shape;20;p3"/>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 name="Google Shape;23;p4"/>
          <p:cNvSpPr txBox="1"/>
          <p:nvPr>
            <p:ph idx="1" type="body"/>
          </p:nvPr>
        </p:nvSpPr>
        <p:spPr>
          <a:xfrm>
            <a:off x="342986" y="1200150"/>
            <a:ext cx="6173744"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4" name="Google Shape;24;p4"/>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 name="Google Shape;25;p4"/>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 name="Google Shape;26;p4"/>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541870" y="3305175"/>
            <a:ext cx="5830759"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 name="Google Shape;29;p5"/>
          <p:cNvSpPr txBox="1"/>
          <p:nvPr>
            <p:ph idx="1" type="body"/>
          </p:nvPr>
        </p:nvSpPr>
        <p:spPr>
          <a:xfrm>
            <a:off x="541870" y="2180035"/>
            <a:ext cx="5830759"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30" name="Google Shape;30;p5"/>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 name="Google Shape;31;p5"/>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 name="Google Shape;32;p5"/>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 name="Google Shape;35;p6"/>
          <p:cNvSpPr txBox="1"/>
          <p:nvPr>
            <p:ph idx="1" type="body"/>
          </p:nvPr>
        </p:nvSpPr>
        <p:spPr>
          <a:xfrm>
            <a:off x="342986" y="1200150"/>
            <a:ext cx="3029708"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6" name="Google Shape;36;p6"/>
          <p:cNvSpPr txBox="1"/>
          <p:nvPr>
            <p:ph idx="2" type="body"/>
          </p:nvPr>
        </p:nvSpPr>
        <p:spPr>
          <a:xfrm>
            <a:off x="3487022" y="1200150"/>
            <a:ext cx="3029708"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7" name="Google Shape;37;p6"/>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 name="Google Shape;38;p6"/>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 name="Google Shape;39;p6"/>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 name="Google Shape;42;p7"/>
          <p:cNvSpPr txBox="1"/>
          <p:nvPr>
            <p:ph idx="1" type="body"/>
          </p:nvPr>
        </p:nvSpPr>
        <p:spPr>
          <a:xfrm>
            <a:off x="342986" y="1151335"/>
            <a:ext cx="3030899"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3" name="Google Shape;43;p7"/>
          <p:cNvSpPr txBox="1"/>
          <p:nvPr>
            <p:ph idx="2" type="body"/>
          </p:nvPr>
        </p:nvSpPr>
        <p:spPr>
          <a:xfrm>
            <a:off x="342986" y="1631156"/>
            <a:ext cx="3030899"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4" name="Google Shape;44;p7"/>
          <p:cNvSpPr txBox="1"/>
          <p:nvPr>
            <p:ph idx="3" type="body"/>
          </p:nvPr>
        </p:nvSpPr>
        <p:spPr>
          <a:xfrm>
            <a:off x="3484640" y="1151335"/>
            <a:ext cx="3032090"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5" name="Google Shape;45;p7"/>
          <p:cNvSpPr txBox="1"/>
          <p:nvPr>
            <p:ph idx="4" type="body"/>
          </p:nvPr>
        </p:nvSpPr>
        <p:spPr>
          <a:xfrm>
            <a:off x="3484640" y="1631156"/>
            <a:ext cx="3032090"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6" name="Google Shape;46;p7"/>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 name="Google Shape;47;p7"/>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7"/>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8"/>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8"/>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Google Shape;53;p8"/>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42986" y="204788"/>
            <a:ext cx="2256799"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Google Shape;56;p9"/>
          <p:cNvSpPr txBox="1"/>
          <p:nvPr>
            <p:ph idx="1" type="body"/>
          </p:nvPr>
        </p:nvSpPr>
        <p:spPr>
          <a:xfrm>
            <a:off x="2681958" y="204788"/>
            <a:ext cx="3834772"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57" name="Google Shape;57;p9"/>
          <p:cNvSpPr txBox="1"/>
          <p:nvPr>
            <p:ph idx="2" type="body"/>
          </p:nvPr>
        </p:nvSpPr>
        <p:spPr>
          <a:xfrm>
            <a:off x="342986" y="1076325"/>
            <a:ext cx="2256799"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58" name="Google Shape;58;p9"/>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9"/>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9"/>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344552" y="3600450"/>
            <a:ext cx="411583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0"/>
          <p:cNvSpPr/>
          <p:nvPr>
            <p:ph idx="2" type="pic"/>
          </p:nvPr>
        </p:nvSpPr>
        <p:spPr>
          <a:xfrm>
            <a:off x="1344552" y="459581"/>
            <a:ext cx="4115830" cy="3086100"/>
          </a:xfrm>
          <a:prstGeom prst="rect">
            <a:avLst/>
          </a:prstGeom>
          <a:noFill/>
          <a:ln>
            <a:noFill/>
          </a:ln>
        </p:spPr>
      </p:sp>
      <p:sp>
        <p:nvSpPr>
          <p:cNvPr id="64" name="Google Shape;64;p10"/>
          <p:cNvSpPr txBox="1"/>
          <p:nvPr>
            <p:ph idx="1" type="body"/>
          </p:nvPr>
        </p:nvSpPr>
        <p:spPr>
          <a:xfrm>
            <a:off x="1344552" y="4025503"/>
            <a:ext cx="411583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65" name="Google Shape;65;p10"/>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0"/>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0"/>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1"/>
          <p:cNvSpPr txBox="1"/>
          <p:nvPr>
            <p:ph idx="1" type="body"/>
          </p:nvPr>
        </p:nvSpPr>
        <p:spPr>
          <a:xfrm rot="5400000">
            <a:off x="1732622" y="-189486"/>
            <a:ext cx="3394472" cy="6173744"/>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1" name="Google Shape;71;p11"/>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1"/>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1"/>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3550690" y="1628582"/>
            <a:ext cx="4388644" cy="1543436"/>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2"/>
          <p:cNvSpPr txBox="1"/>
          <p:nvPr>
            <p:ph idx="1" type="body"/>
          </p:nvPr>
        </p:nvSpPr>
        <p:spPr>
          <a:xfrm rot="5400000">
            <a:off x="406654" y="142311"/>
            <a:ext cx="4388644" cy="451598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7" name="Google Shape;77;p12"/>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2"/>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2"/>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342986" y="1200150"/>
            <a:ext cx="6173744"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84" name="Shape 84"/>
        <p:cNvGrpSpPr/>
        <p:nvPr/>
      </p:nvGrpSpPr>
      <p:grpSpPr>
        <a:xfrm>
          <a:off x="0" y="0"/>
          <a:ext cx="0" cy="0"/>
          <a:chOff x="0" y="0"/>
          <a:chExt cx="0" cy="0"/>
        </a:xfrm>
      </p:grpSpPr>
      <p:sp>
        <p:nvSpPr>
          <p:cNvPr id="85" name="Google Shape;85;p13"/>
          <p:cNvSpPr/>
          <p:nvPr/>
        </p:nvSpPr>
        <p:spPr>
          <a:xfrm>
            <a:off x="0" y="0"/>
            <a:ext cx="9144002"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 name="Google Shape;86;p13"/>
          <p:cNvSpPr/>
          <p:nvPr/>
        </p:nvSpPr>
        <p:spPr>
          <a:xfrm>
            <a:off x="0" y="0"/>
            <a:ext cx="48018" cy="5143500"/>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 name="Google Shape;87;p13"/>
          <p:cNvSpPr txBox="1"/>
          <p:nvPr/>
        </p:nvSpPr>
        <p:spPr>
          <a:xfrm>
            <a:off x="3284607" y="849275"/>
            <a:ext cx="3466800" cy="1577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800" u="none" cap="none" strike="noStrike">
                <a:solidFill>
                  <a:srgbClr val="F0F6FC"/>
                </a:solidFill>
                <a:latin typeface="Calibri"/>
                <a:ea typeface="Calibri"/>
                <a:cs typeface="Calibri"/>
                <a:sym typeface="Calibri"/>
              </a:rPr>
              <a:t>PULSE</a:t>
            </a:r>
            <a:endParaRPr sz="1100"/>
          </a:p>
        </p:txBody>
      </p:sp>
      <p:sp>
        <p:nvSpPr>
          <p:cNvPr id="88" name="Google Shape;88;p13"/>
          <p:cNvSpPr txBox="1"/>
          <p:nvPr/>
        </p:nvSpPr>
        <p:spPr>
          <a:xfrm>
            <a:off x="2392580" y="828278"/>
            <a:ext cx="839100" cy="1531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500" u="none" cap="none" strike="noStrike">
                <a:solidFill>
                  <a:srgbClr val="8B5CF6"/>
                </a:solidFill>
                <a:latin typeface="Calibri"/>
                <a:ea typeface="Calibri"/>
                <a:cs typeface="Calibri"/>
                <a:sym typeface="Calibri"/>
              </a:rPr>
              <a:t>Q</a:t>
            </a:r>
            <a:endParaRPr sz="3100"/>
          </a:p>
        </p:txBody>
      </p:sp>
      <p:sp>
        <p:nvSpPr>
          <p:cNvPr id="89" name="Google Shape;89;p13"/>
          <p:cNvSpPr txBox="1"/>
          <p:nvPr/>
        </p:nvSpPr>
        <p:spPr>
          <a:xfrm>
            <a:off x="1118853" y="2237725"/>
            <a:ext cx="67356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2300" u="none" cap="none" strike="noStrike">
                <a:solidFill>
                  <a:srgbClr val="06B6D4"/>
                </a:solidFill>
                <a:latin typeface="Calibri"/>
                <a:ea typeface="Calibri"/>
                <a:cs typeface="Calibri"/>
                <a:sym typeface="Calibri"/>
              </a:rPr>
              <a:t>Patient Urgency &amp; Load Scheduling Engine  ·  Quantum</a:t>
            </a:r>
            <a:endParaRPr sz="2000"/>
          </a:p>
        </p:txBody>
      </p:sp>
      <p:sp>
        <p:nvSpPr>
          <p:cNvPr id="90" name="Google Shape;90;p13"/>
          <p:cNvSpPr txBox="1"/>
          <p:nvPr/>
        </p:nvSpPr>
        <p:spPr>
          <a:xfrm>
            <a:off x="2198005" y="3664575"/>
            <a:ext cx="47274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u="none" cap="none" strike="noStrike">
                <a:solidFill>
                  <a:srgbClr val="8B949E"/>
                </a:solidFill>
                <a:latin typeface="Calibri"/>
                <a:ea typeface="Calibri"/>
                <a:cs typeface="Calibri"/>
                <a:sym typeface="Calibri"/>
              </a:rPr>
              <a:t>Real-time quantum-optimized triage for AQI-driven hospital surge emergencies</a:t>
            </a:r>
            <a:endParaRPr sz="1100"/>
          </a:p>
        </p:txBody>
      </p:sp>
      <p:cxnSp>
        <p:nvCxnSpPr>
          <p:cNvPr id="91" name="Google Shape;91;p13"/>
          <p:cNvCxnSpPr/>
          <p:nvPr/>
        </p:nvCxnSpPr>
        <p:spPr>
          <a:xfrm>
            <a:off x="308687" y="4114800"/>
            <a:ext cx="8526627" cy="0"/>
          </a:xfrm>
          <a:prstGeom prst="straightConnector1">
            <a:avLst/>
          </a:prstGeom>
          <a:noFill/>
          <a:ln cap="flat" cmpd="sng" w="10150">
            <a:solidFill>
              <a:srgbClr val="8B5CF6"/>
            </a:solidFill>
            <a:prstDash val="solid"/>
            <a:round/>
            <a:headEnd len="sm" w="sm" type="none"/>
            <a:tailEnd len="sm" w="sm" type="none"/>
          </a:ln>
          <a:effectLst>
            <a:outerShdw blurRad="40000" rotWithShape="0" dir="5400000" dist="20000">
              <a:srgbClr val="000000">
                <a:alpha val="38039"/>
              </a:srgbClr>
            </a:outerShdw>
          </a:effectLst>
        </p:spPr>
      </p:cxnSp>
      <p:sp>
        <p:nvSpPr>
          <p:cNvPr id="92" name="Google Shape;92;p13"/>
          <p:cNvSpPr txBox="1"/>
          <p:nvPr/>
        </p:nvSpPr>
        <p:spPr>
          <a:xfrm>
            <a:off x="308687" y="4183380"/>
            <a:ext cx="8505900" cy="223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000" u="none" cap="none" strike="noStrike">
                <a:solidFill>
                  <a:srgbClr val="8B949E"/>
                </a:solidFill>
                <a:latin typeface="Calibri"/>
                <a:ea typeface="Calibri"/>
                <a:cs typeface="Calibri"/>
                <a:sym typeface="Calibri"/>
              </a:rPr>
              <a:t>Addressing Problem Statement</a:t>
            </a:r>
            <a:r>
              <a:rPr lang="en" sz="1000">
                <a:solidFill>
                  <a:srgbClr val="8B949E"/>
                </a:solidFill>
                <a:latin typeface="Calibri"/>
                <a:ea typeface="Calibri"/>
                <a:cs typeface="Calibri"/>
                <a:sym typeface="Calibri"/>
              </a:rPr>
              <a:t> </a:t>
            </a:r>
            <a:r>
              <a:rPr b="0" i="0" lang="en" sz="1000" u="none" cap="none" strike="noStrike">
                <a:solidFill>
                  <a:srgbClr val="8B949E"/>
                </a:solidFill>
                <a:latin typeface="Calibri"/>
                <a:ea typeface="Calibri"/>
                <a:cs typeface="Calibri"/>
                <a:sym typeface="Calibri"/>
              </a:rPr>
              <a:t>#18</a:t>
            </a:r>
            <a:endParaRPr sz="1100"/>
          </a:p>
        </p:txBody>
      </p:sp>
      <p:sp>
        <p:nvSpPr>
          <p:cNvPr id="93" name="Google Shape;93;p13"/>
          <p:cNvSpPr txBox="1"/>
          <p:nvPr/>
        </p:nvSpPr>
        <p:spPr>
          <a:xfrm>
            <a:off x="445100" y="2698263"/>
            <a:ext cx="8233200" cy="96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Calibri"/>
                <a:ea typeface="Calibri"/>
                <a:cs typeface="Calibri"/>
                <a:sym typeface="Calibri"/>
              </a:rPr>
              <a:t>Team - NEXUS  (Team No. 14) </a:t>
            </a:r>
            <a:endParaRPr sz="2400">
              <a:solidFill>
                <a:schemeClr val="lt1"/>
              </a:solidFill>
              <a:latin typeface="Calibri"/>
              <a:ea typeface="Calibri"/>
              <a:cs typeface="Calibri"/>
              <a:sym typeface="Calibri"/>
            </a:endParaRPr>
          </a:p>
          <a:p>
            <a:pPr indent="0" lvl="0" marL="0" rtl="0" algn="ctr">
              <a:spcBef>
                <a:spcPts val="0"/>
              </a:spcBef>
              <a:spcAft>
                <a:spcPts val="0"/>
              </a:spcAft>
              <a:buNone/>
            </a:pPr>
            <a:r>
              <a:rPr lang="en" sz="2400">
                <a:solidFill>
                  <a:schemeClr val="lt1"/>
                </a:solidFill>
                <a:latin typeface="Calibri"/>
                <a:ea typeface="Calibri"/>
                <a:cs typeface="Calibri"/>
                <a:sym typeface="Calibri"/>
              </a:rPr>
              <a:t>Members - Sriranjini | Anuraag</a:t>
            </a:r>
            <a:endParaRPr sz="2400">
              <a:solidFill>
                <a:schemeClr val="lt1"/>
              </a:solidFill>
              <a:latin typeface="Calibri"/>
              <a:ea typeface="Calibri"/>
              <a:cs typeface="Calibri"/>
              <a:sym typeface="Calibri"/>
            </a:endParaRPr>
          </a:p>
        </p:txBody>
      </p:sp>
      <p:sp>
        <p:nvSpPr>
          <p:cNvPr id="94" name="Google Shape;94;p13"/>
          <p:cNvSpPr txBox="1"/>
          <p:nvPr>
            <p:ph idx="12" type="sldNum"/>
          </p:nvPr>
        </p:nvSpPr>
        <p:spPr>
          <a:xfrm>
            <a:off x="7543505" y="485073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99" name="Shape 99"/>
        <p:cNvGrpSpPr/>
        <p:nvPr/>
      </p:nvGrpSpPr>
      <p:grpSpPr>
        <a:xfrm>
          <a:off x="0" y="0"/>
          <a:ext cx="0" cy="0"/>
          <a:chOff x="0" y="0"/>
          <a:chExt cx="0" cy="0"/>
        </a:xfrm>
      </p:grpSpPr>
      <p:sp>
        <p:nvSpPr>
          <p:cNvPr id="100" name="Google Shape;100;p14"/>
          <p:cNvSpPr/>
          <p:nvPr/>
        </p:nvSpPr>
        <p:spPr>
          <a:xfrm>
            <a:off x="0" y="0"/>
            <a:ext cx="9144000" cy="48000"/>
          </a:xfrm>
          <a:prstGeom prst="rect">
            <a:avLst/>
          </a:prstGeom>
          <a:solidFill>
            <a:srgbClr val="EF444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1" name="Google Shape;101;p14"/>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Table of contents</a:t>
            </a:r>
            <a:endParaRPr sz="1100"/>
          </a:p>
        </p:txBody>
      </p:sp>
      <p:cxnSp>
        <p:nvCxnSpPr>
          <p:cNvPr id="102" name="Google Shape;102;p14"/>
          <p:cNvCxnSpPr/>
          <p:nvPr/>
        </p:nvCxnSpPr>
        <p:spPr>
          <a:xfrm>
            <a:off x="308687" y="685800"/>
            <a:ext cx="8526600" cy="0"/>
          </a:xfrm>
          <a:prstGeom prst="straightConnector1">
            <a:avLst/>
          </a:prstGeom>
          <a:noFill/>
          <a:ln cap="flat" cmpd="sng" w="15225">
            <a:solidFill>
              <a:srgbClr val="EF4444"/>
            </a:solidFill>
            <a:prstDash val="solid"/>
            <a:round/>
            <a:headEnd len="sm" w="sm" type="none"/>
            <a:tailEnd len="sm" w="sm" type="none"/>
          </a:ln>
          <a:effectLst>
            <a:outerShdw blurRad="40000" rotWithShape="0" dir="5400000" dist="20000">
              <a:srgbClr val="000000">
                <a:alpha val="38040"/>
              </a:srgbClr>
            </a:outerShdw>
          </a:effectLst>
        </p:spPr>
      </p:cxnSp>
      <p:sp>
        <p:nvSpPr>
          <p:cNvPr id="103" name="Google Shape;103;p14"/>
          <p:cNvSpPr txBox="1"/>
          <p:nvPr/>
        </p:nvSpPr>
        <p:spPr>
          <a:xfrm>
            <a:off x="437925" y="843025"/>
            <a:ext cx="7554300" cy="36459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lt1"/>
              </a:buClr>
              <a:buSzPts val="2400"/>
              <a:buFont typeface="Calibri"/>
              <a:buChar char="➔"/>
            </a:pPr>
            <a:r>
              <a:rPr lang="en" sz="2400">
                <a:solidFill>
                  <a:schemeClr val="lt1"/>
                </a:solidFill>
                <a:latin typeface="Calibri"/>
                <a:ea typeface="Calibri"/>
                <a:cs typeface="Calibri"/>
                <a:sym typeface="Calibri"/>
              </a:rPr>
              <a:t>Problem Statement</a:t>
            </a:r>
            <a:endParaRPr sz="2400">
              <a:solidFill>
                <a:schemeClr val="lt1"/>
              </a:solidFill>
              <a:latin typeface="Calibri"/>
              <a:ea typeface="Calibri"/>
              <a:cs typeface="Calibri"/>
              <a:sym typeface="Calibri"/>
            </a:endParaRPr>
          </a:p>
          <a:p>
            <a:pPr indent="-381000" lvl="0" marL="457200" rtl="0" algn="l">
              <a:spcBef>
                <a:spcPts val="0"/>
              </a:spcBef>
              <a:spcAft>
                <a:spcPts val="0"/>
              </a:spcAft>
              <a:buClr>
                <a:schemeClr val="lt1"/>
              </a:buClr>
              <a:buSzPts val="2400"/>
              <a:buFont typeface="Calibri"/>
              <a:buChar char="➔"/>
            </a:pPr>
            <a:r>
              <a:rPr lang="en" sz="2400">
                <a:solidFill>
                  <a:schemeClr val="lt1"/>
                </a:solidFill>
                <a:latin typeface="Calibri"/>
                <a:ea typeface="Calibri"/>
                <a:cs typeface="Calibri"/>
                <a:sym typeface="Calibri"/>
              </a:rPr>
              <a:t>How we try to solve it?</a:t>
            </a:r>
            <a:endParaRPr sz="2400">
              <a:solidFill>
                <a:schemeClr val="lt1"/>
              </a:solidFill>
              <a:latin typeface="Calibri"/>
              <a:ea typeface="Calibri"/>
              <a:cs typeface="Calibri"/>
              <a:sym typeface="Calibri"/>
            </a:endParaRPr>
          </a:p>
          <a:p>
            <a:pPr indent="-381000" lvl="0" marL="457200" rtl="0" algn="l">
              <a:spcBef>
                <a:spcPts val="0"/>
              </a:spcBef>
              <a:spcAft>
                <a:spcPts val="0"/>
              </a:spcAft>
              <a:buClr>
                <a:schemeClr val="lt1"/>
              </a:buClr>
              <a:buSzPts val="2400"/>
              <a:buFont typeface="Calibri"/>
              <a:buChar char="➔"/>
            </a:pPr>
            <a:r>
              <a:rPr lang="en" sz="2400">
                <a:solidFill>
                  <a:schemeClr val="lt1"/>
                </a:solidFill>
                <a:latin typeface="Calibri"/>
                <a:ea typeface="Calibri"/>
                <a:cs typeface="Calibri"/>
                <a:sym typeface="Calibri"/>
              </a:rPr>
              <a:t>Comparing with other routes</a:t>
            </a:r>
            <a:endParaRPr sz="2400">
              <a:solidFill>
                <a:schemeClr val="lt1"/>
              </a:solidFill>
              <a:latin typeface="Calibri"/>
              <a:ea typeface="Calibri"/>
              <a:cs typeface="Calibri"/>
              <a:sym typeface="Calibri"/>
            </a:endParaRPr>
          </a:p>
          <a:p>
            <a:pPr indent="-381000" lvl="0" marL="457200" rtl="0" algn="l">
              <a:spcBef>
                <a:spcPts val="0"/>
              </a:spcBef>
              <a:spcAft>
                <a:spcPts val="0"/>
              </a:spcAft>
              <a:buClr>
                <a:schemeClr val="lt1"/>
              </a:buClr>
              <a:buSzPts val="2400"/>
              <a:buFont typeface="Calibri"/>
              <a:buChar char="➔"/>
            </a:pPr>
            <a:r>
              <a:rPr lang="en" sz="2400">
                <a:solidFill>
                  <a:schemeClr val="lt1"/>
                </a:solidFill>
                <a:latin typeface="Calibri"/>
                <a:ea typeface="Calibri"/>
                <a:cs typeface="Calibri"/>
                <a:sym typeface="Calibri"/>
              </a:rPr>
              <a:t>Current UI and functionality</a:t>
            </a:r>
            <a:endParaRPr sz="2400">
              <a:solidFill>
                <a:schemeClr val="lt1"/>
              </a:solidFill>
              <a:latin typeface="Calibri"/>
              <a:ea typeface="Calibri"/>
              <a:cs typeface="Calibri"/>
              <a:sym typeface="Calibri"/>
            </a:endParaRPr>
          </a:p>
          <a:p>
            <a:pPr indent="-381000" lvl="0" marL="457200" rtl="0" algn="l">
              <a:spcBef>
                <a:spcPts val="0"/>
              </a:spcBef>
              <a:spcAft>
                <a:spcPts val="0"/>
              </a:spcAft>
              <a:buClr>
                <a:schemeClr val="lt1"/>
              </a:buClr>
              <a:buSzPts val="2400"/>
              <a:buFont typeface="Calibri"/>
              <a:buChar char="➔"/>
            </a:pPr>
            <a:r>
              <a:rPr lang="en" sz="2400">
                <a:solidFill>
                  <a:schemeClr val="lt1"/>
                </a:solidFill>
                <a:latin typeface="Calibri"/>
                <a:ea typeface="Calibri"/>
                <a:cs typeface="Calibri"/>
                <a:sym typeface="Calibri"/>
              </a:rPr>
              <a:t>Further Vision</a:t>
            </a:r>
            <a:endParaRPr sz="2400">
              <a:solidFill>
                <a:schemeClr val="lt1"/>
              </a:solidFill>
              <a:latin typeface="Calibri"/>
              <a:ea typeface="Calibri"/>
              <a:cs typeface="Calibri"/>
              <a:sym typeface="Calibri"/>
            </a:endParaRPr>
          </a:p>
        </p:txBody>
      </p:sp>
      <p:sp>
        <p:nvSpPr>
          <p:cNvPr id="104" name="Google Shape;104;p14"/>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09" name="Shape 109"/>
        <p:cNvGrpSpPr/>
        <p:nvPr/>
      </p:nvGrpSpPr>
      <p:grpSpPr>
        <a:xfrm>
          <a:off x="0" y="0"/>
          <a:ext cx="0" cy="0"/>
          <a:chOff x="0" y="0"/>
          <a:chExt cx="0" cy="0"/>
        </a:xfrm>
      </p:grpSpPr>
      <p:sp>
        <p:nvSpPr>
          <p:cNvPr id="110" name="Google Shape;110;p15"/>
          <p:cNvSpPr/>
          <p:nvPr/>
        </p:nvSpPr>
        <p:spPr>
          <a:xfrm>
            <a:off x="0" y="0"/>
            <a:ext cx="9144000" cy="48000"/>
          </a:xfrm>
          <a:prstGeom prst="rect">
            <a:avLst/>
          </a:prstGeom>
          <a:solidFill>
            <a:srgbClr val="EF444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1" name="Google Shape;111;p15"/>
          <p:cNvSpPr txBox="1"/>
          <p:nvPr/>
        </p:nvSpPr>
        <p:spPr>
          <a:xfrm>
            <a:off x="308687" y="123444"/>
            <a:ext cx="8505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cxnSp>
        <p:nvCxnSpPr>
          <p:cNvPr id="112" name="Google Shape;112;p15"/>
          <p:cNvCxnSpPr/>
          <p:nvPr/>
        </p:nvCxnSpPr>
        <p:spPr>
          <a:xfrm>
            <a:off x="308687" y="685800"/>
            <a:ext cx="8526600" cy="0"/>
          </a:xfrm>
          <a:prstGeom prst="straightConnector1">
            <a:avLst/>
          </a:prstGeom>
          <a:noFill/>
          <a:ln cap="flat" cmpd="sng" w="15225">
            <a:solidFill>
              <a:srgbClr val="EF4444"/>
            </a:solidFill>
            <a:prstDash val="solid"/>
            <a:round/>
            <a:headEnd len="sm" w="sm" type="none"/>
            <a:tailEnd len="sm" w="sm" type="none"/>
          </a:ln>
          <a:effectLst>
            <a:outerShdw blurRad="40000" rotWithShape="0" dir="5400000" dist="20000">
              <a:srgbClr val="000000">
                <a:alpha val="38040"/>
              </a:srgbClr>
            </a:outerShdw>
          </a:effectLst>
        </p:spPr>
      </p:cxnSp>
      <p:sp>
        <p:nvSpPr>
          <p:cNvPr id="113" name="Google Shape;113;p15"/>
          <p:cNvSpPr txBox="1"/>
          <p:nvPr/>
        </p:nvSpPr>
        <p:spPr>
          <a:xfrm>
            <a:off x="789875" y="2215950"/>
            <a:ext cx="7543500" cy="711600"/>
          </a:xfrm>
          <a:prstGeom prst="rect">
            <a:avLst/>
          </a:prstGeom>
          <a:noFill/>
          <a:ln>
            <a:noFill/>
          </a:ln>
        </p:spPr>
        <p:txBody>
          <a:bodyPr anchorCtr="0" anchor="t" bIns="91425" lIns="91425" spcFirstLastPara="1" rIns="91425" wrap="square" tIns="91425">
            <a:noAutofit/>
          </a:bodyPr>
          <a:lstStyle/>
          <a:p>
            <a:pPr indent="0" lvl="0" marL="457200" rtl="0" algn="ctr">
              <a:spcBef>
                <a:spcPts val="0"/>
              </a:spcBef>
              <a:spcAft>
                <a:spcPts val="0"/>
              </a:spcAft>
              <a:buNone/>
            </a:pPr>
            <a:r>
              <a:rPr lang="en" sz="3300">
                <a:solidFill>
                  <a:schemeClr val="lt1"/>
                </a:solidFill>
                <a:latin typeface="Calibri"/>
                <a:ea typeface="Calibri"/>
                <a:cs typeface="Calibri"/>
                <a:sym typeface="Calibri"/>
              </a:rPr>
              <a:t>Problem Statement</a:t>
            </a:r>
            <a:endParaRPr sz="3300">
              <a:solidFill>
                <a:schemeClr val="lt1"/>
              </a:solidFill>
              <a:latin typeface="Calibri"/>
              <a:ea typeface="Calibri"/>
              <a:cs typeface="Calibri"/>
              <a:sym typeface="Calibri"/>
            </a:endParaRPr>
          </a:p>
        </p:txBody>
      </p:sp>
      <p:sp>
        <p:nvSpPr>
          <p:cNvPr id="114" name="Google Shape;114;p15"/>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19" name="Shape 119"/>
        <p:cNvGrpSpPr/>
        <p:nvPr/>
      </p:nvGrpSpPr>
      <p:grpSpPr>
        <a:xfrm>
          <a:off x="0" y="0"/>
          <a:ext cx="0" cy="0"/>
          <a:chOff x="0" y="0"/>
          <a:chExt cx="0" cy="0"/>
        </a:xfrm>
      </p:grpSpPr>
      <p:sp>
        <p:nvSpPr>
          <p:cNvPr id="120" name="Google Shape;120;p16"/>
          <p:cNvSpPr/>
          <p:nvPr/>
        </p:nvSpPr>
        <p:spPr>
          <a:xfrm>
            <a:off x="0" y="0"/>
            <a:ext cx="9144002" cy="48006"/>
          </a:xfrm>
          <a:prstGeom prst="rect">
            <a:avLst/>
          </a:prstGeom>
          <a:solidFill>
            <a:srgbClr val="EF444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 name="Google Shape;121;p16"/>
          <p:cNvSpPr txBox="1"/>
          <p:nvPr/>
        </p:nvSpPr>
        <p:spPr>
          <a:xfrm>
            <a:off x="308687" y="123444"/>
            <a:ext cx="8506048"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900" u="none" cap="none" strike="noStrike">
                <a:solidFill>
                  <a:srgbClr val="F0F6FC"/>
                </a:solidFill>
                <a:latin typeface="Calibri"/>
                <a:ea typeface="Calibri"/>
                <a:cs typeface="Calibri"/>
                <a:sym typeface="Calibri"/>
              </a:rPr>
              <a:t>The System Fails During Surge</a:t>
            </a:r>
            <a:endParaRPr sz="1100"/>
          </a:p>
        </p:txBody>
      </p:sp>
      <p:cxnSp>
        <p:nvCxnSpPr>
          <p:cNvPr id="122" name="Google Shape;122;p16"/>
          <p:cNvCxnSpPr/>
          <p:nvPr/>
        </p:nvCxnSpPr>
        <p:spPr>
          <a:xfrm>
            <a:off x="308687" y="685800"/>
            <a:ext cx="8526627" cy="0"/>
          </a:xfrm>
          <a:prstGeom prst="straightConnector1">
            <a:avLst/>
          </a:prstGeom>
          <a:noFill/>
          <a:ln cap="flat" cmpd="sng" w="15225">
            <a:solidFill>
              <a:srgbClr val="EF4444"/>
            </a:solidFill>
            <a:prstDash val="solid"/>
            <a:round/>
            <a:headEnd len="sm" w="sm" type="none"/>
            <a:tailEnd len="sm" w="sm" type="none"/>
          </a:ln>
          <a:effectLst>
            <a:outerShdw blurRad="40000" rotWithShape="0" dir="5400000" dist="20000">
              <a:srgbClr val="000000">
                <a:alpha val="38039"/>
              </a:srgbClr>
            </a:outerShdw>
          </a:effectLst>
        </p:spPr>
      </p:cxnSp>
      <p:sp>
        <p:nvSpPr>
          <p:cNvPr id="123" name="Google Shape;123;p16"/>
          <p:cNvSpPr/>
          <p:nvPr/>
        </p:nvSpPr>
        <p:spPr>
          <a:xfrm>
            <a:off x="308687" y="788670"/>
            <a:ext cx="2778185" cy="1371600"/>
          </a:xfrm>
          <a:prstGeom prst="rect">
            <a:avLst/>
          </a:prstGeom>
          <a:solidFill>
            <a:srgbClr val="161B22"/>
          </a:solidFill>
          <a:ln cap="flat" cmpd="sng" w="19050">
            <a:solidFill>
              <a:srgbClr val="F59E0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 name="Google Shape;124;p16"/>
          <p:cNvSpPr/>
          <p:nvPr/>
        </p:nvSpPr>
        <p:spPr>
          <a:xfrm>
            <a:off x="308687" y="788670"/>
            <a:ext cx="2778185" cy="48006"/>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 name="Google Shape;125;p16"/>
          <p:cNvSpPr txBox="1"/>
          <p:nvPr/>
        </p:nvSpPr>
        <p:spPr>
          <a:xfrm>
            <a:off x="308687" y="877824"/>
            <a:ext cx="2778300" cy="669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3900">
                <a:solidFill>
                  <a:srgbClr val="F59E0B"/>
                </a:solidFill>
                <a:latin typeface="Calibri"/>
                <a:ea typeface="Calibri"/>
                <a:cs typeface="Calibri"/>
                <a:sym typeface="Calibri"/>
              </a:rPr>
              <a:t>60</a:t>
            </a:r>
            <a:r>
              <a:rPr b="1" i="0" lang="en" sz="3900" u="none" cap="none" strike="noStrike">
                <a:solidFill>
                  <a:srgbClr val="F59E0B"/>
                </a:solidFill>
                <a:latin typeface="Calibri"/>
                <a:ea typeface="Calibri"/>
                <a:cs typeface="Calibri"/>
                <a:sym typeface="Calibri"/>
              </a:rPr>
              <a:t>%</a:t>
            </a:r>
            <a:endParaRPr sz="1100"/>
          </a:p>
        </p:txBody>
      </p:sp>
      <p:sp>
        <p:nvSpPr>
          <p:cNvPr id="126" name="Google Shape;126;p16"/>
          <p:cNvSpPr txBox="1"/>
          <p:nvPr/>
        </p:nvSpPr>
        <p:spPr>
          <a:xfrm>
            <a:off x="377284" y="1495044"/>
            <a:ext cx="2640991" cy="6035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8B949E"/>
                </a:solidFill>
                <a:latin typeface="Calibri"/>
                <a:ea typeface="Calibri"/>
                <a:cs typeface="Calibri"/>
                <a:sym typeface="Calibri"/>
              </a:rPr>
              <a:t>of Indian hospitals</a:t>
            </a:r>
            <a:br>
              <a:rPr b="0" i="0" lang="en" sz="1100" u="none" cap="none" strike="noStrike">
                <a:solidFill>
                  <a:srgbClr val="8B949E"/>
                </a:solidFill>
                <a:latin typeface="Calibri"/>
                <a:ea typeface="Calibri"/>
                <a:cs typeface="Calibri"/>
                <a:sym typeface="Calibri"/>
              </a:rPr>
            </a:br>
            <a:r>
              <a:rPr b="0" i="0" lang="en" sz="1100" u="none" cap="none" strike="noStrike">
                <a:solidFill>
                  <a:srgbClr val="8B949E"/>
                </a:solidFill>
                <a:latin typeface="Calibri"/>
                <a:ea typeface="Calibri"/>
                <a:cs typeface="Calibri"/>
                <a:sym typeface="Calibri"/>
              </a:rPr>
              <a:t>chronically understaffed</a:t>
            </a:r>
            <a:br>
              <a:rPr b="0" i="0" lang="en" sz="1100" u="none" cap="none" strike="noStrike">
                <a:solidFill>
                  <a:srgbClr val="8B949E"/>
                </a:solidFill>
                <a:latin typeface="Calibri"/>
                <a:ea typeface="Calibri"/>
                <a:cs typeface="Calibri"/>
                <a:sym typeface="Calibri"/>
              </a:rPr>
            </a:br>
            <a:r>
              <a:rPr b="0" i="0" lang="en" sz="1100" u="none" cap="none" strike="noStrike">
                <a:solidFill>
                  <a:srgbClr val="8B949E"/>
                </a:solidFill>
                <a:latin typeface="Calibri"/>
                <a:ea typeface="Calibri"/>
                <a:cs typeface="Calibri"/>
                <a:sym typeface="Calibri"/>
              </a:rPr>
              <a:t>during AQI surge</a:t>
            </a:r>
            <a:endParaRPr sz="1100"/>
          </a:p>
        </p:txBody>
      </p:sp>
      <p:sp>
        <p:nvSpPr>
          <p:cNvPr id="127" name="Google Shape;127;p16"/>
          <p:cNvSpPr/>
          <p:nvPr/>
        </p:nvSpPr>
        <p:spPr>
          <a:xfrm>
            <a:off x="3258365" y="788670"/>
            <a:ext cx="2778185" cy="1371600"/>
          </a:xfrm>
          <a:prstGeom prst="rect">
            <a:avLst/>
          </a:prstGeom>
          <a:solidFill>
            <a:srgbClr val="161B22"/>
          </a:solidFill>
          <a:ln cap="flat" cmpd="sng" w="19050">
            <a:solidFill>
              <a:srgbClr val="EF444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 name="Google Shape;128;p16"/>
          <p:cNvSpPr/>
          <p:nvPr/>
        </p:nvSpPr>
        <p:spPr>
          <a:xfrm>
            <a:off x="3258365" y="788670"/>
            <a:ext cx="2778185" cy="48006"/>
          </a:xfrm>
          <a:prstGeom prst="rect">
            <a:avLst/>
          </a:prstGeom>
          <a:solidFill>
            <a:srgbClr val="EF444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 name="Google Shape;129;p16"/>
          <p:cNvSpPr txBox="1"/>
          <p:nvPr/>
        </p:nvSpPr>
        <p:spPr>
          <a:xfrm>
            <a:off x="3258365" y="877824"/>
            <a:ext cx="2778300" cy="669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3900" u="none" cap="none" strike="noStrike">
                <a:solidFill>
                  <a:srgbClr val="EF4444"/>
                </a:solidFill>
                <a:latin typeface="Calibri"/>
                <a:ea typeface="Calibri"/>
                <a:cs typeface="Calibri"/>
                <a:sym typeface="Calibri"/>
              </a:rPr>
              <a:t>+</a:t>
            </a:r>
            <a:r>
              <a:rPr b="1" lang="en" sz="3900">
                <a:solidFill>
                  <a:srgbClr val="EF4444"/>
                </a:solidFill>
                <a:latin typeface="Calibri"/>
                <a:ea typeface="Calibri"/>
                <a:cs typeface="Calibri"/>
                <a:sym typeface="Calibri"/>
              </a:rPr>
              <a:t>30</a:t>
            </a:r>
            <a:r>
              <a:rPr b="1" i="0" lang="en" sz="3900" u="none" cap="none" strike="noStrike">
                <a:solidFill>
                  <a:srgbClr val="EF4444"/>
                </a:solidFill>
                <a:latin typeface="Calibri"/>
                <a:ea typeface="Calibri"/>
                <a:cs typeface="Calibri"/>
                <a:sym typeface="Calibri"/>
              </a:rPr>
              <a:t>%</a:t>
            </a:r>
            <a:endParaRPr sz="1100"/>
          </a:p>
        </p:txBody>
      </p:sp>
      <p:sp>
        <p:nvSpPr>
          <p:cNvPr id="130" name="Google Shape;130;p16"/>
          <p:cNvSpPr txBox="1"/>
          <p:nvPr/>
        </p:nvSpPr>
        <p:spPr>
          <a:xfrm>
            <a:off x="3326962" y="1495044"/>
            <a:ext cx="2640991" cy="6035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8B949E"/>
                </a:solidFill>
                <a:latin typeface="Calibri"/>
                <a:ea typeface="Calibri"/>
                <a:cs typeface="Calibri"/>
                <a:sym typeface="Calibri"/>
              </a:rPr>
              <a:t>jump in respiratory</a:t>
            </a:r>
            <a:br>
              <a:rPr b="0" i="0" lang="en" sz="1100" u="none" cap="none" strike="noStrike">
                <a:solidFill>
                  <a:srgbClr val="8B949E"/>
                </a:solidFill>
                <a:latin typeface="Calibri"/>
                <a:ea typeface="Calibri"/>
                <a:cs typeface="Calibri"/>
                <a:sym typeface="Calibri"/>
              </a:rPr>
            </a:br>
            <a:r>
              <a:rPr b="0" i="0" lang="en" sz="1100" u="none" cap="none" strike="noStrike">
                <a:solidFill>
                  <a:srgbClr val="8B949E"/>
                </a:solidFill>
                <a:latin typeface="Calibri"/>
                <a:ea typeface="Calibri"/>
                <a:cs typeface="Calibri"/>
                <a:sym typeface="Calibri"/>
              </a:rPr>
              <a:t>admissions when AQI</a:t>
            </a:r>
            <a:br>
              <a:rPr b="0" i="0" lang="en" sz="1100" u="none" cap="none" strike="noStrike">
                <a:solidFill>
                  <a:srgbClr val="8B949E"/>
                </a:solidFill>
                <a:latin typeface="Calibri"/>
                <a:ea typeface="Calibri"/>
                <a:cs typeface="Calibri"/>
                <a:sym typeface="Calibri"/>
              </a:rPr>
            </a:br>
            <a:r>
              <a:rPr b="0" i="0" lang="en" sz="1100" u="none" cap="none" strike="noStrike">
                <a:solidFill>
                  <a:srgbClr val="8B949E"/>
                </a:solidFill>
                <a:latin typeface="Calibri"/>
                <a:ea typeface="Calibri"/>
                <a:cs typeface="Calibri"/>
                <a:sym typeface="Calibri"/>
              </a:rPr>
              <a:t>crosses 300 PM2.5</a:t>
            </a:r>
            <a:endParaRPr sz="1100"/>
          </a:p>
        </p:txBody>
      </p:sp>
      <p:sp>
        <p:nvSpPr>
          <p:cNvPr id="131" name="Google Shape;131;p16"/>
          <p:cNvSpPr/>
          <p:nvPr/>
        </p:nvSpPr>
        <p:spPr>
          <a:xfrm>
            <a:off x="6208042" y="788670"/>
            <a:ext cx="2778185" cy="1371600"/>
          </a:xfrm>
          <a:prstGeom prst="rect">
            <a:avLst/>
          </a:prstGeom>
          <a:solidFill>
            <a:srgbClr val="161B22"/>
          </a:solidFill>
          <a:ln cap="flat" cmpd="sng" w="19050">
            <a:solidFill>
              <a:srgbClr val="06B6D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16"/>
          <p:cNvSpPr/>
          <p:nvPr/>
        </p:nvSpPr>
        <p:spPr>
          <a:xfrm>
            <a:off x="6208042" y="788670"/>
            <a:ext cx="2778185" cy="48006"/>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3" name="Google Shape;133;p16"/>
          <p:cNvSpPr txBox="1"/>
          <p:nvPr/>
        </p:nvSpPr>
        <p:spPr>
          <a:xfrm>
            <a:off x="6208042" y="877824"/>
            <a:ext cx="2778300" cy="669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3900">
                <a:solidFill>
                  <a:srgbClr val="06B6D4"/>
                </a:solidFill>
                <a:latin typeface="Calibri"/>
                <a:ea typeface="Calibri"/>
                <a:cs typeface="Calibri"/>
                <a:sym typeface="Calibri"/>
              </a:rPr>
              <a:t>2+hr</a:t>
            </a:r>
            <a:endParaRPr sz="1100"/>
          </a:p>
        </p:txBody>
      </p:sp>
      <p:sp>
        <p:nvSpPr>
          <p:cNvPr id="134" name="Google Shape;134;p16"/>
          <p:cNvSpPr txBox="1"/>
          <p:nvPr/>
        </p:nvSpPr>
        <p:spPr>
          <a:xfrm>
            <a:off x="6276639" y="1495044"/>
            <a:ext cx="2640991" cy="6035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8B949E"/>
                </a:solidFill>
                <a:latin typeface="Calibri"/>
                <a:ea typeface="Calibri"/>
                <a:cs typeface="Calibri"/>
                <a:sym typeface="Calibri"/>
              </a:rPr>
              <a:t>average ICU bed</a:t>
            </a:r>
            <a:br>
              <a:rPr b="0" i="0" lang="en" sz="1100" u="none" cap="none" strike="noStrike">
                <a:solidFill>
                  <a:srgbClr val="8B949E"/>
                </a:solidFill>
                <a:latin typeface="Calibri"/>
                <a:ea typeface="Calibri"/>
                <a:cs typeface="Calibri"/>
                <a:sym typeface="Calibri"/>
              </a:rPr>
            </a:br>
            <a:r>
              <a:rPr b="0" i="0" lang="en" sz="1100" u="none" cap="none" strike="noStrike">
                <a:solidFill>
                  <a:srgbClr val="8B949E"/>
                </a:solidFill>
                <a:latin typeface="Calibri"/>
                <a:ea typeface="Calibri"/>
                <a:cs typeface="Calibri"/>
                <a:sym typeface="Calibri"/>
              </a:rPr>
              <a:t>assignment delay under</a:t>
            </a:r>
            <a:br>
              <a:rPr b="0" i="0" lang="en" sz="1100" u="none" cap="none" strike="noStrike">
                <a:solidFill>
                  <a:srgbClr val="8B949E"/>
                </a:solidFill>
                <a:latin typeface="Calibri"/>
                <a:ea typeface="Calibri"/>
                <a:cs typeface="Calibri"/>
                <a:sym typeface="Calibri"/>
              </a:rPr>
            </a:br>
            <a:r>
              <a:rPr b="0" i="0" lang="en" sz="1100" u="none" cap="none" strike="noStrike">
                <a:solidFill>
                  <a:srgbClr val="8B949E"/>
                </a:solidFill>
                <a:latin typeface="Calibri"/>
                <a:ea typeface="Calibri"/>
                <a:cs typeface="Calibri"/>
                <a:sym typeface="Calibri"/>
              </a:rPr>
              <a:t>current manual triage</a:t>
            </a:r>
            <a:endParaRPr sz="1100"/>
          </a:p>
        </p:txBody>
      </p:sp>
      <p:sp>
        <p:nvSpPr>
          <p:cNvPr id="135" name="Google Shape;135;p16"/>
          <p:cNvSpPr/>
          <p:nvPr/>
        </p:nvSpPr>
        <p:spPr>
          <a:xfrm>
            <a:off x="308687" y="2297430"/>
            <a:ext cx="8526627" cy="1975104"/>
          </a:xfrm>
          <a:prstGeom prst="rect">
            <a:avLst/>
          </a:prstGeom>
          <a:solidFill>
            <a:srgbClr val="161B22"/>
          </a:solidFill>
          <a:ln cap="flat" cmpd="sng" w="12700">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6" name="Google Shape;136;p16"/>
          <p:cNvSpPr/>
          <p:nvPr/>
        </p:nvSpPr>
        <p:spPr>
          <a:xfrm>
            <a:off x="308687" y="2297430"/>
            <a:ext cx="48018" cy="1975104"/>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7" name="Google Shape;137;p16"/>
          <p:cNvSpPr txBox="1"/>
          <p:nvPr/>
        </p:nvSpPr>
        <p:spPr>
          <a:xfrm>
            <a:off x="445882" y="2366010"/>
            <a:ext cx="8231659"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500" u="none" cap="none" strike="noStrike">
                <a:solidFill>
                  <a:srgbClr val="8B5CF6"/>
                </a:solidFill>
                <a:latin typeface="Calibri"/>
                <a:ea typeface="Calibri"/>
                <a:cs typeface="Calibri"/>
                <a:sym typeface="Calibri"/>
              </a:rPr>
              <a:t>What hospitals do today:</a:t>
            </a:r>
            <a:endParaRPr sz="1100"/>
          </a:p>
        </p:txBody>
      </p:sp>
      <p:sp>
        <p:nvSpPr>
          <p:cNvPr id="138" name="Google Shape;138;p16"/>
          <p:cNvSpPr txBox="1"/>
          <p:nvPr/>
        </p:nvSpPr>
        <p:spPr>
          <a:xfrm>
            <a:off x="445882" y="2756915"/>
            <a:ext cx="8231700" cy="136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F0F6FC"/>
                </a:solidFill>
                <a:latin typeface="Calibri"/>
                <a:ea typeface="Calibri"/>
                <a:cs typeface="Calibri"/>
                <a:sym typeface="Calibri"/>
              </a:rPr>
              <a:t>A nurse ranks patients by gut feeling.  Beds are assigned first-come-first-served.</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Staff is spread evenly across wards</a:t>
            </a:r>
            <a:r>
              <a:rPr lang="en" sz="1200">
                <a:solidFill>
                  <a:srgbClr val="F0F6FC"/>
                </a:solidFill>
                <a:latin typeface="Calibri"/>
                <a:ea typeface="Calibri"/>
                <a:cs typeface="Calibri"/>
                <a:sym typeface="Calibri"/>
              </a:rPr>
              <a:t>,</a:t>
            </a:r>
            <a:r>
              <a:rPr b="0" i="0" lang="en" sz="1200" u="none" cap="none" strike="noStrike">
                <a:solidFill>
                  <a:srgbClr val="F0F6FC"/>
                </a:solidFill>
                <a:latin typeface="Calibri"/>
                <a:ea typeface="Calibri"/>
                <a:cs typeface="Calibri"/>
                <a:sym typeface="Calibri"/>
              </a:rPr>
              <a:t> regardless of who is critical.</a:t>
            </a:r>
            <a:br>
              <a:rPr b="0" i="0" lang="en" sz="1200" u="none" cap="none" strike="noStrike">
                <a:solidFill>
                  <a:srgbClr val="F0F6FC"/>
                </a:solidFill>
                <a:latin typeface="Calibri"/>
                <a:ea typeface="Calibri"/>
                <a:cs typeface="Calibri"/>
                <a:sym typeface="Calibri"/>
              </a:rPr>
            </a:b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There is no system that simultaneously looks at a patient's SpO₂, blood pressure, the AQI outside, available ICU beds, and qualified nursing staff and produces an optimal allocation in real time.</a:t>
            </a:r>
            <a:br>
              <a:rPr b="0" i="0" lang="en" sz="1200" u="none" cap="none" strike="noStrike">
                <a:solidFill>
                  <a:srgbClr val="F0F6FC"/>
                </a:solidFill>
                <a:latin typeface="Calibri"/>
                <a:ea typeface="Calibri"/>
                <a:cs typeface="Calibri"/>
                <a:sym typeface="Calibri"/>
              </a:rPr>
            </a:b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That is the gap PULSE-Q fills.</a:t>
            </a:r>
            <a:endParaRPr sz="1100"/>
          </a:p>
        </p:txBody>
      </p:sp>
      <p:sp>
        <p:nvSpPr>
          <p:cNvPr id="139" name="Google Shape;139;p16"/>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44" name="Shape 144"/>
        <p:cNvGrpSpPr/>
        <p:nvPr/>
      </p:nvGrpSpPr>
      <p:grpSpPr>
        <a:xfrm>
          <a:off x="0" y="0"/>
          <a:ext cx="0" cy="0"/>
          <a:chOff x="0" y="0"/>
          <a:chExt cx="0" cy="0"/>
        </a:xfrm>
      </p:grpSpPr>
      <p:sp>
        <p:nvSpPr>
          <p:cNvPr id="145" name="Google Shape;145;p17"/>
          <p:cNvSpPr/>
          <p:nvPr/>
        </p:nvSpPr>
        <p:spPr>
          <a:xfrm>
            <a:off x="0" y="0"/>
            <a:ext cx="9144002"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6" name="Google Shape;146;p17"/>
          <p:cNvSpPr txBox="1"/>
          <p:nvPr/>
        </p:nvSpPr>
        <p:spPr>
          <a:xfrm>
            <a:off x="308687" y="123444"/>
            <a:ext cx="8506048"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900" u="none" cap="none" strike="noStrike">
                <a:solidFill>
                  <a:srgbClr val="F0F6FC"/>
                </a:solidFill>
                <a:latin typeface="Calibri"/>
                <a:ea typeface="Calibri"/>
                <a:cs typeface="Calibri"/>
                <a:sym typeface="Calibri"/>
              </a:rPr>
              <a:t>PULSE-Q Solves It in 4 Stages</a:t>
            </a:r>
            <a:endParaRPr sz="1100"/>
          </a:p>
        </p:txBody>
      </p:sp>
      <p:cxnSp>
        <p:nvCxnSpPr>
          <p:cNvPr id="147" name="Google Shape;147;p17"/>
          <p:cNvCxnSpPr/>
          <p:nvPr/>
        </p:nvCxnSpPr>
        <p:spPr>
          <a:xfrm>
            <a:off x="308687" y="685800"/>
            <a:ext cx="8526627" cy="0"/>
          </a:xfrm>
          <a:prstGeom prst="straightConnector1">
            <a:avLst/>
          </a:prstGeom>
          <a:noFill/>
          <a:ln cap="flat" cmpd="sng" w="15225">
            <a:solidFill>
              <a:srgbClr val="8B5CF6"/>
            </a:solidFill>
            <a:prstDash val="solid"/>
            <a:round/>
            <a:headEnd len="sm" w="sm" type="none"/>
            <a:tailEnd len="sm" w="sm" type="none"/>
          </a:ln>
          <a:effectLst>
            <a:outerShdw blurRad="40000" rotWithShape="0" dir="5400000" dist="20000">
              <a:srgbClr val="000000">
                <a:alpha val="38039"/>
              </a:srgbClr>
            </a:outerShdw>
          </a:effectLst>
        </p:spPr>
      </p:cxnSp>
      <p:sp>
        <p:nvSpPr>
          <p:cNvPr id="148" name="Google Shape;148;p17"/>
          <p:cNvSpPr/>
          <p:nvPr/>
        </p:nvSpPr>
        <p:spPr>
          <a:xfrm>
            <a:off x="274389" y="788670"/>
            <a:ext cx="1886422" cy="3326130"/>
          </a:xfrm>
          <a:prstGeom prst="rect">
            <a:avLst/>
          </a:prstGeom>
          <a:solidFill>
            <a:srgbClr val="161B22"/>
          </a:solidFill>
          <a:ln cap="flat" cmpd="sng" w="19050">
            <a:solidFill>
              <a:srgbClr val="06B6D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17"/>
          <p:cNvSpPr/>
          <p:nvPr/>
        </p:nvSpPr>
        <p:spPr>
          <a:xfrm>
            <a:off x="274389" y="788670"/>
            <a:ext cx="1886422" cy="48006"/>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0" name="Google Shape;150;p17"/>
          <p:cNvSpPr/>
          <p:nvPr/>
        </p:nvSpPr>
        <p:spPr>
          <a:xfrm>
            <a:off x="377284" y="877824"/>
            <a:ext cx="342986" cy="288036"/>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1" name="Google Shape;151;p17"/>
          <p:cNvSpPr txBox="1"/>
          <p:nvPr/>
        </p:nvSpPr>
        <p:spPr>
          <a:xfrm>
            <a:off x="377284" y="891540"/>
            <a:ext cx="342986"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1</a:t>
            </a:r>
            <a:endParaRPr sz="1100"/>
          </a:p>
        </p:txBody>
      </p:sp>
      <p:sp>
        <p:nvSpPr>
          <p:cNvPr id="152" name="Google Shape;152;p17"/>
          <p:cNvSpPr txBox="1"/>
          <p:nvPr/>
        </p:nvSpPr>
        <p:spPr>
          <a:xfrm>
            <a:off x="356705" y="1248156"/>
            <a:ext cx="1721789" cy="39776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800" u="none" cap="none" strike="noStrike">
                <a:solidFill>
                  <a:srgbClr val="06B6D4"/>
                </a:solidFill>
                <a:latin typeface="Calibri"/>
                <a:ea typeface="Calibri"/>
                <a:cs typeface="Calibri"/>
                <a:sym typeface="Calibri"/>
              </a:rPr>
              <a:t>ENCRYPT</a:t>
            </a:r>
            <a:endParaRPr sz="1100"/>
          </a:p>
        </p:txBody>
      </p:sp>
      <p:sp>
        <p:nvSpPr>
          <p:cNvPr id="153" name="Google Shape;153;p17"/>
          <p:cNvSpPr/>
          <p:nvPr/>
        </p:nvSpPr>
        <p:spPr>
          <a:xfrm>
            <a:off x="425302" y="1728216"/>
            <a:ext cx="1584594" cy="17145"/>
          </a:xfrm>
          <a:prstGeom prst="rect">
            <a:avLst/>
          </a:prstGeom>
          <a:solidFill>
            <a:srgbClr val="8B949E"/>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4" name="Google Shape;154;p17"/>
          <p:cNvSpPr txBox="1"/>
          <p:nvPr/>
        </p:nvSpPr>
        <p:spPr>
          <a:xfrm>
            <a:off x="377284" y="1817370"/>
            <a:ext cx="1680630" cy="21259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F0F6FC"/>
                </a:solidFill>
                <a:latin typeface="Calibri"/>
                <a:ea typeface="Calibri"/>
                <a:cs typeface="Calibri"/>
                <a:sym typeface="Calibri"/>
              </a:rPr>
              <a:t>Patient data secured</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with post-quantum</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cryptography</a:t>
            </a:r>
            <a:endParaRPr sz="1100"/>
          </a:p>
        </p:txBody>
      </p:sp>
      <p:sp>
        <p:nvSpPr>
          <p:cNvPr id="155" name="Google Shape;155;p17"/>
          <p:cNvSpPr txBox="1"/>
          <p:nvPr/>
        </p:nvSpPr>
        <p:spPr>
          <a:xfrm>
            <a:off x="2127494" y="2125980"/>
            <a:ext cx="260700" cy="423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300" u="none" cap="none" strike="noStrike">
                <a:solidFill>
                  <a:srgbClr val="8B949E"/>
                </a:solidFill>
                <a:latin typeface="Calibri"/>
                <a:ea typeface="Calibri"/>
                <a:cs typeface="Calibri"/>
                <a:sym typeface="Calibri"/>
              </a:rPr>
              <a:t>→</a:t>
            </a:r>
            <a:endParaRPr sz="1100"/>
          </a:p>
        </p:txBody>
      </p:sp>
      <p:sp>
        <p:nvSpPr>
          <p:cNvPr id="156" name="Google Shape;156;p17"/>
          <p:cNvSpPr/>
          <p:nvPr/>
        </p:nvSpPr>
        <p:spPr>
          <a:xfrm>
            <a:off x="2503796" y="788670"/>
            <a:ext cx="1886422" cy="3326130"/>
          </a:xfrm>
          <a:prstGeom prst="rect">
            <a:avLst/>
          </a:prstGeom>
          <a:solidFill>
            <a:srgbClr val="161B22"/>
          </a:solidFill>
          <a:ln cap="flat" cmpd="sng" w="19050">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7" name="Google Shape;157;p17"/>
          <p:cNvSpPr/>
          <p:nvPr/>
        </p:nvSpPr>
        <p:spPr>
          <a:xfrm>
            <a:off x="2503796" y="788670"/>
            <a:ext cx="1886422"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8" name="Google Shape;158;p17"/>
          <p:cNvSpPr/>
          <p:nvPr/>
        </p:nvSpPr>
        <p:spPr>
          <a:xfrm>
            <a:off x="2606692" y="877824"/>
            <a:ext cx="342986" cy="28803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9" name="Google Shape;159;p17"/>
          <p:cNvSpPr txBox="1"/>
          <p:nvPr/>
        </p:nvSpPr>
        <p:spPr>
          <a:xfrm>
            <a:off x="2606692" y="891540"/>
            <a:ext cx="342986"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2</a:t>
            </a:r>
            <a:endParaRPr sz="1100"/>
          </a:p>
        </p:txBody>
      </p:sp>
      <p:sp>
        <p:nvSpPr>
          <p:cNvPr id="160" name="Google Shape;160;p17"/>
          <p:cNvSpPr txBox="1"/>
          <p:nvPr/>
        </p:nvSpPr>
        <p:spPr>
          <a:xfrm>
            <a:off x="2586113" y="1248156"/>
            <a:ext cx="1721789" cy="39776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800" u="none" cap="none" strike="noStrike">
                <a:solidFill>
                  <a:srgbClr val="8B5CF6"/>
                </a:solidFill>
                <a:latin typeface="Calibri"/>
                <a:ea typeface="Calibri"/>
                <a:cs typeface="Calibri"/>
                <a:sym typeface="Calibri"/>
              </a:rPr>
              <a:t>SCORE</a:t>
            </a:r>
            <a:endParaRPr sz="1100"/>
          </a:p>
        </p:txBody>
      </p:sp>
      <p:sp>
        <p:nvSpPr>
          <p:cNvPr id="161" name="Google Shape;161;p17"/>
          <p:cNvSpPr/>
          <p:nvPr/>
        </p:nvSpPr>
        <p:spPr>
          <a:xfrm>
            <a:off x="2654710" y="1728216"/>
            <a:ext cx="1584594" cy="17145"/>
          </a:xfrm>
          <a:prstGeom prst="rect">
            <a:avLst/>
          </a:prstGeom>
          <a:solidFill>
            <a:srgbClr val="8B949E"/>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2" name="Google Shape;162;p17"/>
          <p:cNvSpPr txBox="1"/>
          <p:nvPr/>
        </p:nvSpPr>
        <p:spPr>
          <a:xfrm>
            <a:off x="2606692" y="1817370"/>
            <a:ext cx="1680630" cy="21259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F0F6FC"/>
                </a:solidFill>
                <a:latin typeface="Calibri"/>
                <a:ea typeface="Calibri"/>
                <a:cs typeface="Calibri"/>
                <a:sym typeface="Calibri"/>
              </a:rPr>
              <a:t>Quantum SVM rates</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each patient's</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urgency 0→1</a:t>
            </a:r>
            <a:endParaRPr sz="1100"/>
          </a:p>
        </p:txBody>
      </p:sp>
      <p:sp>
        <p:nvSpPr>
          <p:cNvPr id="163" name="Google Shape;163;p17"/>
          <p:cNvSpPr txBox="1"/>
          <p:nvPr/>
        </p:nvSpPr>
        <p:spPr>
          <a:xfrm>
            <a:off x="4348082" y="2125980"/>
            <a:ext cx="260700" cy="423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300" u="none" cap="none" strike="noStrike">
                <a:solidFill>
                  <a:srgbClr val="8B949E"/>
                </a:solidFill>
                <a:latin typeface="Calibri"/>
                <a:ea typeface="Calibri"/>
                <a:cs typeface="Calibri"/>
                <a:sym typeface="Calibri"/>
              </a:rPr>
              <a:t>→</a:t>
            </a:r>
            <a:endParaRPr sz="1100"/>
          </a:p>
        </p:txBody>
      </p:sp>
      <p:sp>
        <p:nvSpPr>
          <p:cNvPr id="164" name="Google Shape;164;p17"/>
          <p:cNvSpPr/>
          <p:nvPr/>
        </p:nvSpPr>
        <p:spPr>
          <a:xfrm>
            <a:off x="4733204" y="788670"/>
            <a:ext cx="1886422" cy="3326130"/>
          </a:xfrm>
          <a:prstGeom prst="rect">
            <a:avLst/>
          </a:prstGeom>
          <a:solidFill>
            <a:srgbClr val="161B22"/>
          </a:solidFill>
          <a:ln cap="flat" cmpd="sng" w="19050">
            <a:solidFill>
              <a:srgbClr val="F59E0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5" name="Google Shape;165;p17"/>
          <p:cNvSpPr/>
          <p:nvPr/>
        </p:nvSpPr>
        <p:spPr>
          <a:xfrm>
            <a:off x="4733204" y="788670"/>
            <a:ext cx="1886422" cy="48006"/>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6" name="Google Shape;166;p17"/>
          <p:cNvSpPr/>
          <p:nvPr/>
        </p:nvSpPr>
        <p:spPr>
          <a:xfrm>
            <a:off x="4836100" y="877824"/>
            <a:ext cx="342986" cy="288036"/>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7" name="Google Shape;167;p17"/>
          <p:cNvSpPr txBox="1"/>
          <p:nvPr/>
        </p:nvSpPr>
        <p:spPr>
          <a:xfrm>
            <a:off x="4836100" y="891540"/>
            <a:ext cx="342986"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3</a:t>
            </a:r>
            <a:endParaRPr sz="1100"/>
          </a:p>
        </p:txBody>
      </p:sp>
      <p:sp>
        <p:nvSpPr>
          <p:cNvPr id="168" name="Google Shape;168;p17"/>
          <p:cNvSpPr txBox="1"/>
          <p:nvPr/>
        </p:nvSpPr>
        <p:spPr>
          <a:xfrm>
            <a:off x="4815521" y="1248156"/>
            <a:ext cx="1721789" cy="39776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800" u="none" cap="none" strike="noStrike">
                <a:solidFill>
                  <a:srgbClr val="F59E0B"/>
                </a:solidFill>
                <a:latin typeface="Calibri"/>
                <a:ea typeface="Calibri"/>
                <a:cs typeface="Calibri"/>
                <a:sym typeface="Calibri"/>
              </a:rPr>
              <a:t>OPTIMIZE</a:t>
            </a:r>
            <a:endParaRPr sz="1100"/>
          </a:p>
        </p:txBody>
      </p:sp>
      <p:sp>
        <p:nvSpPr>
          <p:cNvPr id="169" name="Google Shape;169;p17"/>
          <p:cNvSpPr/>
          <p:nvPr/>
        </p:nvSpPr>
        <p:spPr>
          <a:xfrm>
            <a:off x="4884118" y="1728216"/>
            <a:ext cx="1584594" cy="17145"/>
          </a:xfrm>
          <a:prstGeom prst="rect">
            <a:avLst/>
          </a:prstGeom>
          <a:solidFill>
            <a:srgbClr val="8B949E"/>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0" name="Google Shape;170;p17"/>
          <p:cNvSpPr txBox="1"/>
          <p:nvPr/>
        </p:nvSpPr>
        <p:spPr>
          <a:xfrm>
            <a:off x="4836100" y="1817370"/>
            <a:ext cx="1680630" cy="21259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F0F6FC"/>
                </a:solidFill>
                <a:latin typeface="Calibri"/>
                <a:ea typeface="Calibri"/>
                <a:cs typeface="Calibri"/>
                <a:sym typeface="Calibri"/>
              </a:rPr>
              <a:t>QUBO assigns beds</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with a mathematical</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guarantee</a:t>
            </a:r>
            <a:endParaRPr sz="1100"/>
          </a:p>
        </p:txBody>
      </p:sp>
      <p:sp>
        <p:nvSpPr>
          <p:cNvPr id="171" name="Google Shape;171;p17"/>
          <p:cNvSpPr txBox="1"/>
          <p:nvPr/>
        </p:nvSpPr>
        <p:spPr>
          <a:xfrm>
            <a:off x="6586309" y="2125980"/>
            <a:ext cx="260700" cy="423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300" u="none" cap="none" strike="noStrike">
                <a:solidFill>
                  <a:srgbClr val="8B949E"/>
                </a:solidFill>
                <a:latin typeface="Calibri"/>
                <a:ea typeface="Calibri"/>
                <a:cs typeface="Calibri"/>
                <a:sym typeface="Calibri"/>
              </a:rPr>
              <a:t>→</a:t>
            </a:r>
            <a:endParaRPr sz="1100"/>
          </a:p>
        </p:txBody>
      </p:sp>
      <p:sp>
        <p:nvSpPr>
          <p:cNvPr id="172" name="Google Shape;172;p17"/>
          <p:cNvSpPr/>
          <p:nvPr/>
        </p:nvSpPr>
        <p:spPr>
          <a:xfrm>
            <a:off x="6962612" y="788670"/>
            <a:ext cx="1886422" cy="3326130"/>
          </a:xfrm>
          <a:prstGeom prst="rect">
            <a:avLst/>
          </a:prstGeom>
          <a:solidFill>
            <a:srgbClr val="161B22"/>
          </a:solidFill>
          <a:ln cap="flat" cmpd="sng" w="19050">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3" name="Google Shape;173;p17"/>
          <p:cNvSpPr/>
          <p:nvPr/>
        </p:nvSpPr>
        <p:spPr>
          <a:xfrm>
            <a:off x="6962612" y="788670"/>
            <a:ext cx="1886422" cy="48006"/>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4" name="Google Shape;174;p17"/>
          <p:cNvSpPr/>
          <p:nvPr/>
        </p:nvSpPr>
        <p:spPr>
          <a:xfrm>
            <a:off x="7065508" y="877824"/>
            <a:ext cx="342986" cy="288036"/>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5" name="Google Shape;175;p17"/>
          <p:cNvSpPr txBox="1"/>
          <p:nvPr/>
        </p:nvSpPr>
        <p:spPr>
          <a:xfrm>
            <a:off x="7065508" y="891540"/>
            <a:ext cx="342986"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4</a:t>
            </a:r>
            <a:endParaRPr sz="1100"/>
          </a:p>
        </p:txBody>
      </p:sp>
      <p:sp>
        <p:nvSpPr>
          <p:cNvPr id="176" name="Google Shape;176;p17"/>
          <p:cNvSpPr txBox="1"/>
          <p:nvPr/>
        </p:nvSpPr>
        <p:spPr>
          <a:xfrm>
            <a:off x="7044928" y="1248156"/>
            <a:ext cx="1721789" cy="39776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800" u="none" cap="none" strike="noStrike">
                <a:solidFill>
                  <a:srgbClr val="10B981"/>
                </a:solidFill>
                <a:latin typeface="Calibri"/>
                <a:ea typeface="Calibri"/>
                <a:cs typeface="Calibri"/>
                <a:sym typeface="Calibri"/>
              </a:rPr>
              <a:t>STAFF</a:t>
            </a:r>
            <a:endParaRPr sz="1100"/>
          </a:p>
        </p:txBody>
      </p:sp>
      <p:sp>
        <p:nvSpPr>
          <p:cNvPr id="177" name="Google Shape;177;p17"/>
          <p:cNvSpPr/>
          <p:nvPr/>
        </p:nvSpPr>
        <p:spPr>
          <a:xfrm>
            <a:off x="7113526" y="1728216"/>
            <a:ext cx="1584594" cy="17145"/>
          </a:xfrm>
          <a:prstGeom prst="rect">
            <a:avLst/>
          </a:prstGeom>
          <a:solidFill>
            <a:srgbClr val="8B949E"/>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8" name="Google Shape;178;p17"/>
          <p:cNvSpPr txBox="1"/>
          <p:nvPr/>
        </p:nvSpPr>
        <p:spPr>
          <a:xfrm>
            <a:off x="7065508" y="1817370"/>
            <a:ext cx="1680630" cy="21259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F0F6FC"/>
                </a:solidFill>
                <a:latin typeface="Calibri"/>
                <a:ea typeface="Calibri"/>
                <a:cs typeface="Calibri"/>
                <a:sym typeface="Calibri"/>
              </a:rPr>
              <a:t>Staff assigned based</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on acuity + skill</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(Phase 2)</a:t>
            </a:r>
            <a:endParaRPr sz="1100"/>
          </a:p>
        </p:txBody>
      </p:sp>
      <p:sp>
        <p:nvSpPr>
          <p:cNvPr id="179" name="Google Shape;179;p17"/>
          <p:cNvSpPr txBox="1"/>
          <p:nvPr/>
        </p:nvSpPr>
        <p:spPr>
          <a:xfrm>
            <a:off x="274389" y="4238244"/>
            <a:ext cx="8595300" cy="223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000" u="none" cap="none" strike="noStrike">
                <a:solidFill>
                  <a:srgbClr val="8B949E"/>
                </a:solidFill>
                <a:latin typeface="Calibri"/>
                <a:ea typeface="Calibri"/>
                <a:cs typeface="Calibri"/>
                <a:sym typeface="Calibri"/>
              </a:rPr>
              <a:t>Full pipeline runs in under 45 seconds on CPU (For hund</a:t>
            </a:r>
            <a:r>
              <a:rPr lang="en" sz="1000">
                <a:solidFill>
                  <a:srgbClr val="8B949E"/>
                </a:solidFill>
                <a:latin typeface="Calibri"/>
                <a:ea typeface="Calibri"/>
                <a:cs typeface="Calibri"/>
                <a:sym typeface="Calibri"/>
              </a:rPr>
              <a:t>red patients</a:t>
            </a:r>
            <a:r>
              <a:rPr b="0" i="0" lang="en" sz="1000" u="none" cap="none" strike="noStrike">
                <a:solidFill>
                  <a:srgbClr val="8B949E"/>
                </a:solidFill>
                <a:latin typeface="Calibri"/>
                <a:ea typeface="Calibri"/>
                <a:cs typeface="Calibri"/>
                <a:sym typeface="Calibri"/>
              </a:rPr>
              <a:t>)  ·  QPU-portabl</a:t>
            </a:r>
            <a:r>
              <a:rPr lang="en" sz="1000">
                <a:solidFill>
                  <a:srgbClr val="8B949E"/>
                </a:solidFill>
                <a:latin typeface="Calibri"/>
                <a:ea typeface="Calibri"/>
                <a:cs typeface="Calibri"/>
                <a:sym typeface="Calibri"/>
              </a:rPr>
              <a:t>e, </a:t>
            </a:r>
            <a:r>
              <a:rPr b="0" i="0" lang="en" sz="1000" u="none" cap="none" strike="noStrike">
                <a:solidFill>
                  <a:srgbClr val="8B949E"/>
                </a:solidFill>
                <a:latin typeface="Calibri"/>
                <a:ea typeface="Calibri"/>
                <a:cs typeface="Calibri"/>
                <a:sym typeface="Calibri"/>
              </a:rPr>
              <a:t> same code, different sampler</a:t>
            </a:r>
            <a:endParaRPr sz="1100"/>
          </a:p>
        </p:txBody>
      </p:sp>
      <p:sp>
        <p:nvSpPr>
          <p:cNvPr id="180" name="Google Shape;180;p17"/>
          <p:cNvSpPr txBox="1"/>
          <p:nvPr>
            <p:ph idx="12" type="sldNum"/>
          </p:nvPr>
        </p:nvSpPr>
        <p:spPr>
          <a:xfrm>
            <a:off x="7543505" y="47407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85" name="Shape 185"/>
        <p:cNvGrpSpPr/>
        <p:nvPr/>
      </p:nvGrpSpPr>
      <p:grpSpPr>
        <a:xfrm>
          <a:off x="0" y="0"/>
          <a:ext cx="0" cy="0"/>
          <a:chOff x="0" y="0"/>
          <a:chExt cx="0" cy="0"/>
        </a:xfrm>
      </p:grpSpPr>
      <p:sp>
        <p:nvSpPr>
          <p:cNvPr id="186" name="Google Shape;186;p18"/>
          <p:cNvSpPr/>
          <p:nvPr/>
        </p:nvSpPr>
        <p:spPr>
          <a:xfrm>
            <a:off x="0" y="0"/>
            <a:ext cx="9144002"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7" name="Google Shape;187;p18"/>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900" u="none" cap="none" strike="noStrike">
                <a:solidFill>
                  <a:srgbClr val="F0F6FC"/>
                </a:solidFill>
                <a:latin typeface="Calibri"/>
                <a:ea typeface="Calibri"/>
                <a:cs typeface="Calibri"/>
                <a:sym typeface="Calibri"/>
              </a:rPr>
              <a:t>How We Score Urgency </a:t>
            </a:r>
            <a:r>
              <a:rPr b="1" lang="en" sz="2900">
                <a:solidFill>
                  <a:srgbClr val="F0F6FC"/>
                </a:solidFill>
                <a:latin typeface="Calibri"/>
                <a:ea typeface="Calibri"/>
                <a:cs typeface="Calibri"/>
                <a:sym typeface="Calibri"/>
              </a:rPr>
              <a:t>–</a:t>
            </a:r>
            <a:r>
              <a:rPr b="1" i="0" lang="en" sz="2900" u="none" cap="none" strike="noStrike">
                <a:solidFill>
                  <a:srgbClr val="F0F6FC"/>
                </a:solidFill>
                <a:latin typeface="Calibri"/>
                <a:ea typeface="Calibri"/>
                <a:cs typeface="Calibri"/>
                <a:sym typeface="Calibri"/>
              </a:rPr>
              <a:t>&gt; The Quantum Kernel</a:t>
            </a:r>
            <a:endParaRPr sz="1100"/>
          </a:p>
        </p:txBody>
      </p:sp>
      <p:cxnSp>
        <p:nvCxnSpPr>
          <p:cNvPr id="188" name="Google Shape;188;p18"/>
          <p:cNvCxnSpPr/>
          <p:nvPr/>
        </p:nvCxnSpPr>
        <p:spPr>
          <a:xfrm>
            <a:off x="308687" y="685800"/>
            <a:ext cx="8526627" cy="0"/>
          </a:xfrm>
          <a:prstGeom prst="straightConnector1">
            <a:avLst/>
          </a:prstGeom>
          <a:noFill/>
          <a:ln cap="flat" cmpd="sng" w="15225">
            <a:solidFill>
              <a:srgbClr val="8B5CF6"/>
            </a:solidFill>
            <a:prstDash val="solid"/>
            <a:round/>
            <a:headEnd len="sm" w="sm" type="none"/>
            <a:tailEnd len="sm" w="sm" type="none"/>
          </a:ln>
          <a:effectLst>
            <a:outerShdw blurRad="40000" rotWithShape="0" dir="5400000" dist="20000">
              <a:srgbClr val="000000">
                <a:alpha val="38039"/>
              </a:srgbClr>
            </a:outerShdw>
          </a:effectLst>
        </p:spPr>
      </p:cxnSp>
      <p:sp>
        <p:nvSpPr>
          <p:cNvPr id="189" name="Google Shape;189;p18"/>
          <p:cNvSpPr/>
          <p:nvPr/>
        </p:nvSpPr>
        <p:spPr>
          <a:xfrm>
            <a:off x="274389" y="788670"/>
            <a:ext cx="4047232" cy="3840480"/>
          </a:xfrm>
          <a:prstGeom prst="rect">
            <a:avLst/>
          </a:prstGeom>
          <a:solidFill>
            <a:srgbClr val="161B22"/>
          </a:solidFill>
          <a:ln cap="flat" cmpd="sng" w="15225">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0" name="Google Shape;190;p18"/>
          <p:cNvSpPr/>
          <p:nvPr/>
        </p:nvSpPr>
        <p:spPr>
          <a:xfrm>
            <a:off x="274389" y="788670"/>
            <a:ext cx="48018" cy="3840480"/>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1" name="Google Shape;191;p18"/>
          <p:cNvSpPr txBox="1"/>
          <p:nvPr/>
        </p:nvSpPr>
        <p:spPr>
          <a:xfrm>
            <a:off x="411583" y="877824"/>
            <a:ext cx="3841441"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8B5CF6"/>
                </a:solidFill>
                <a:latin typeface="Calibri"/>
                <a:ea typeface="Calibri"/>
                <a:cs typeface="Calibri"/>
                <a:sym typeface="Calibri"/>
              </a:rPr>
              <a:t>The Intuition</a:t>
            </a:r>
            <a:endParaRPr sz="1100"/>
          </a:p>
        </p:txBody>
      </p:sp>
      <p:sp>
        <p:nvSpPr>
          <p:cNvPr id="192" name="Google Shape;192;p18"/>
          <p:cNvSpPr txBox="1"/>
          <p:nvPr/>
        </p:nvSpPr>
        <p:spPr>
          <a:xfrm>
            <a:off x="411583" y="1289304"/>
            <a:ext cx="3841500" cy="2439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F0F6FC"/>
                </a:solidFill>
                <a:latin typeface="Calibri"/>
                <a:ea typeface="Calibri"/>
                <a:cs typeface="Calibri"/>
                <a:sym typeface="Calibri"/>
              </a:rPr>
              <a:t>Classical ML compares patients</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on </a:t>
            </a:r>
            <a:r>
              <a:rPr lang="en">
                <a:solidFill>
                  <a:srgbClr val="F0F6FC"/>
                </a:solidFill>
                <a:latin typeface="Calibri"/>
                <a:ea typeface="Calibri"/>
                <a:cs typeface="Calibri"/>
                <a:sym typeface="Calibri"/>
              </a:rPr>
              <a:t>8</a:t>
            </a:r>
            <a:r>
              <a:rPr b="0" i="0" lang="en" sz="1400" u="none" cap="none" strike="noStrike">
                <a:solidFill>
                  <a:srgbClr val="F0F6FC"/>
                </a:solidFill>
                <a:latin typeface="Calibri"/>
                <a:ea typeface="Calibri"/>
                <a:cs typeface="Calibri"/>
                <a:sym typeface="Calibri"/>
              </a:rPr>
              <a:t> features</a:t>
            </a:r>
            <a:r>
              <a:rPr lang="en">
                <a:solidFill>
                  <a:srgbClr val="F0F6FC"/>
                </a:solidFill>
                <a:latin typeface="Calibri"/>
                <a:ea typeface="Calibri"/>
                <a:cs typeface="Calibri"/>
                <a:sym typeface="Calibri"/>
              </a:rPr>
              <a:t>, </a:t>
            </a:r>
            <a:r>
              <a:rPr b="0" i="0" lang="en" sz="1400" u="none" cap="none" strike="noStrike">
                <a:solidFill>
                  <a:srgbClr val="F0F6FC"/>
                </a:solidFill>
                <a:latin typeface="Calibri"/>
                <a:ea typeface="Calibri"/>
                <a:cs typeface="Calibri"/>
                <a:sym typeface="Calibri"/>
              </a:rPr>
              <a:t>one at a time.</a:t>
            </a:r>
            <a:br>
              <a:rPr b="0" i="0" lang="en" sz="1400" u="none" cap="none" strike="noStrike">
                <a:solidFill>
                  <a:srgbClr val="F0F6FC"/>
                </a:solidFill>
                <a:latin typeface="Calibri"/>
                <a:ea typeface="Calibri"/>
                <a:cs typeface="Calibri"/>
                <a:sym typeface="Calibri"/>
              </a:rPr>
            </a:b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Our quantum kernel compares</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every pair of patients across</a:t>
            </a:r>
            <a:br>
              <a:rPr b="0" i="0" lang="en" sz="1400" u="none" cap="none" strike="noStrike">
                <a:solidFill>
                  <a:srgbClr val="F0F6FC"/>
                </a:solidFill>
                <a:latin typeface="Calibri"/>
                <a:ea typeface="Calibri"/>
                <a:cs typeface="Calibri"/>
                <a:sym typeface="Calibri"/>
              </a:rPr>
            </a:br>
            <a:r>
              <a:rPr lang="en">
                <a:solidFill>
                  <a:srgbClr val="F0F6FC"/>
                </a:solidFill>
                <a:latin typeface="Calibri"/>
                <a:ea typeface="Calibri"/>
                <a:cs typeface="Calibri"/>
                <a:sym typeface="Calibri"/>
              </a:rPr>
              <a:t>256</a:t>
            </a:r>
            <a:r>
              <a:rPr b="0" i="0" lang="en" sz="1400" u="none" cap="none" strike="noStrike">
                <a:solidFill>
                  <a:srgbClr val="F0F6FC"/>
                </a:solidFill>
                <a:latin typeface="Calibri"/>
                <a:ea typeface="Calibri"/>
                <a:cs typeface="Calibri"/>
                <a:sym typeface="Calibri"/>
              </a:rPr>
              <a:t> dimensions simultaneously.</a:t>
            </a:r>
            <a:br>
              <a:rPr b="0" i="0" lang="en" sz="1400" u="none" cap="none" strike="noStrike">
                <a:solidFill>
                  <a:srgbClr val="F0F6FC"/>
                </a:solidFill>
                <a:latin typeface="Calibri"/>
                <a:ea typeface="Calibri"/>
                <a:cs typeface="Calibri"/>
                <a:sym typeface="Calibri"/>
              </a:rPr>
            </a:b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This catches the hidden link</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between AQI spikes and</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respiratory failure that linear</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models completely miss.</a:t>
            </a:r>
            <a:endParaRPr sz="1100"/>
          </a:p>
        </p:txBody>
      </p:sp>
      <p:sp>
        <p:nvSpPr>
          <p:cNvPr id="193" name="Google Shape;193;p18"/>
          <p:cNvSpPr/>
          <p:nvPr/>
        </p:nvSpPr>
        <p:spPr>
          <a:xfrm>
            <a:off x="4698905" y="788670"/>
            <a:ext cx="4184400" cy="3840600"/>
          </a:xfrm>
          <a:prstGeom prst="rect">
            <a:avLst/>
          </a:prstGeom>
          <a:solidFill>
            <a:srgbClr val="161B22"/>
          </a:solidFill>
          <a:ln cap="flat" cmpd="sng" w="15225">
            <a:solidFill>
              <a:srgbClr val="06B6D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4" name="Google Shape;194;p18"/>
          <p:cNvSpPr/>
          <p:nvPr/>
        </p:nvSpPr>
        <p:spPr>
          <a:xfrm>
            <a:off x="4698905" y="788670"/>
            <a:ext cx="48018" cy="3840480"/>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5" name="Google Shape;195;p18"/>
          <p:cNvSpPr txBox="1"/>
          <p:nvPr/>
        </p:nvSpPr>
        <p:spPr>
          <a:xfrm>
            <a:off x="4836100" y="877824"/>
            <a:ext cx="3978635"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06B6D4"/>
                </a:solidFill>
                <a:latin typeface="Calibri"/>
                <a:ea typeface="Calibri"/>
                <a:cs typeface="Calibri"/>
                <a:sym typeface="Calibri"/>
              </a:rPr>
              <a:t>The Equation</a:t>
            </a:r>
            <a:endParaRPr sz="1100"/>
          </a:p>
        </p:txBody>
      </p:sp>
      <p:sp>
        <p:nvSpPr>
          <p:cNvPr id="196" name="Google Shape;196;p18"/>
          <p:cNvSpPr txBox="1"/>
          <p:nvPr/>
        </p:nvSpPr>
        <p:spPr>
          <a:xfrm>
            <a:off x="4698905" y="1303020"/>
            <a:ext cx="4184427" cy="44577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700" u="none" cap="none" strike="noStrike">
                <a:solidFill>
                  <a:srgbClr val="06B6D4"/>
                </a:solidFill>
                <a:latin typeface="Calibri"/>
                <a:ea typeface="Calibri"/>
                <a:cs typeface="Calibri"/>
                <a:sym typeface="Calibri"/>
              </a:rPr>
              <a:t>K(xᵢ, xⱼ)  =  |⟨Φ(xᵢ)|Φ(xⱼ)⟩|²</a:t>
            </a:r>
            <a:endParaRPr sz="1100"/>
          </a:p>
        </p:txBody>
      </p:sp>
      <p:cxnSp>
        <p:nvCxnSpPr>
          <p:cNvPr id="197" name="Google Shape;197;p18"/>
          <p:cNvCxnSpPr/>
          <p:nvPr/>
        </p:nvCxnSpPr>
        <p:spPr>
          <a:xfrm>
            <a:off x="4870398" y="1837944"/>
            <a:ext cx="3875740" cy="0"/>
          </a:xfrm>
          <a:prstGeom prst="straightConnector1">
            <a:avLst/>
          </a:prstGeom>
          <a:noFill/>
          <a:ln cap="flat" cmpd="sng" w="9525">
            <a:solidFill>
              <a:srgbClr val="8B949E"/>
            </a:solidFill>
            <a:prstDash val="solid"/>
            <a:round/>
            <a:headEnd len="sm" w="sm" type="none"/>
            <a:tailEnd len="sm" w="sm" type="none"/>
          </a:ln>
          <a:effectLst>
            <a:outerShdw blurRad="40000" rotWithShape="0" dir="5400000" dist="20000">
              <a:srgbClr val="000000">
                <a:alpha val="38039"/>
              </a:srgbClr>
            </a:outerShdw>
          </a:effectLst>
        </p:spPr>
      </p:cxnSp>
      <p:sp>
        <p:nvSpPr>
          <p:cNvPr id="198" name="Google Shape;198;p18"/>
          <p:cNvSpPr/>
          <p:nvPr/>
        </p:nvSpPr>
        <p:spPr>
          <a:xfrm>
            <a:off x="4870398" y="1954530"/>
            <a:ext cx="1509138" cy="370332"/>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9" name="Google Shape;199;p18"/>
          <p:cNvSpPr txBox="1"/>
          <p:nvPr/>
        </p:nvSpPr>
        <p:spPr>
          <a:xfrm>
            <a:off x="4904697" y="2009394"/>
            <a:ext cx="1440540"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BP deviation</a:t>
            </a:r>
            <a:endParaRPr sz="1100"/>
          </a:p>
        </p:txBody>
      </p:sp>
      <p:sp>
        <p:nvSpPr>
          <p:cNvPr id="200" name="Google Shape;200;p18"/>
          <p:cNvSpPr/>
          <p:nvPr/>
        </p:nvSpPr>
        <p:spPr>
          <a:xfrm>
            <a:off x="4870398" y="2448306"/>
            <a:ext cx="1509138" cy="370332"/>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1" name="Google Shape;201;p18"/>
          <p:cNvSpPr txBox="1"/>
          <p:nvPr/>
        </p:nvSpPr>
        <p:spPr>
          <a:xfrm>
            <a:off x="4904697" y="2503170"/>
            <a:ext cx="1440540"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SpO₂ deficit</a:t>
            </a:r>
            <a:endParaRPr sz="1100"/>
          </a:p>
        </p:txBody>
      </p:sp>
      <p:sp>
        <p:nvSpPr>
          <p:cNvPr id="202" name="Google Shape;202;p18"/>
          <p:cNvSpPr/>
          <p:nvPr/>
        </p:nvSpPr>
        <p:spPr>
          <a:xfrm>
            <a:off x="4870398" y="2942082"/>
            <a:ext cx="1509138" cy="370332"/>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3" name="Google Shape;203;p18"/>
          <p:cNvSpPr txBox="1"/>
          <p:nvPr/>
        </p:nvSpPr>
        <p:spPr>
          <a:xfrm>
            <a:off x="4904697" y="2996946"/>
            <a:ext cx="1440540"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Temperature</a:t>
            </a:r>
            <a:endParaRPr sz="1100"/>
          </a:p>
        </p:txBody>
      </p:sp>
      <p:sp>
        <p:nvSpPr>
          <p:cNvPr id="204" name="Google Shape;204;p18"/>
          <p:cNvSpPr/>
          <p:nvPr/>
        </p:nvSpPr>
        <p:spPr>
          <a:xfrm>
            <a:off x="4870398" y="3435858"/>
            <a:ext cx="1509138" cy="370332"/>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5" name="Google Shape;205;p18"/>
          <p:cNvSpPr txBox="1"/>
          <p:nvPr/>
        </p:nvSpPr>
        <p:spPr>
          <a:xfrm>
            <a:off x="4904697" y="3490722"/>
            <a:ext cx="1440540"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AQI PM2.5</a:t>
            </a:r>
            <a:endParaRPr sz="1100"/>
          </a:p>
        </p:txBody>
      </p:sp>
      <p:sp>
        <p:nvSpPr>
          <p:cNvPr id="206" name="Google Shape;206;p18"/>
          <p:cNvSpPr/>
          <p:nvPr/>
        </p:nvSpPr>
        <p:spPr>
          <a:xfrm>
            <a:off x="4836111" y="4138026"/>
            <a:ext cx="3944400" cy="425100"/>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7" name="Google Shape;207;p18"/>
          <p:cNvSpPr txBox="1"/>
          <p:nvPr/>
        </p:nvSpPr>
        <p:spPr>
          <a:xfrm>
            <a:off x="4853248" y="4231374"/>
            <a:ext cx="39444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100">
                <a:solidFill>
                  <a:srgbClr val="FFFFFF"/>
                </a:solidFill>
                <a:latin typeface="Calibri"/>
                <a:ea typeface="Calibri"/>
                <a:cs typeface="Calibri"/>
                <a:sym typeface="Calibri"/>
              </a:rPr>
              <a:t>8</a:t>
            </a:r>
            <a:r>
              <a:rPr b="1" i="0" lang="en" sz="1100" u="none" cap="none" strike="noStrike">
                <a:solidFill>
                  <a:srgbClr val="FFFFFF"/>
                </a:solidFill>
                <a:latin typeface="Calibri"/>
                <a:ea typeface="Calibri"/>
                <a:cs typeface="Calibri"/>
                <a:sym typeface="Calibri"/>
              </a:rPr>
              <a:t> qubits  →  2</a:t>
            </a:r>
            <a:r>
              <a:rPr b="1" lang="en" sz="1100">
                <a:solidFill>
                  <a:srgbClr val="FFFFFF"/>
                </a:solidFill>
                <a:latin typeface="Calibri"/>
                <a:ea typeface="Calibri"/>
                <a:cs typeface="Calibri"/>
                <a:sym typeface="Calibri"/>
              </a:rPr>
              <a:t>^8</a:t>
            </a:r>
            <a:r>
              <a:rPr b="1" i="0" lang="en" sz="1100" u="none" cap="none" strike="noStrike">
                <a:solidFill>
                  <a:srgbClr val="FFFFFF"/>
                </a:solidFill>
                <a:latin typeface="Calibri"/>
                <a:ea typeface="Calibri"/>
                <a:cs typeface="Calibri"/>
                <a:sym typeface="Calibri"/>
              </a:rPr>
              <a:t> = </a:t>
            </a:r>
            <a:r>
              <a:rPr b="1" lang="en" sz="1100">
                <a:solidFill>
                  <a:srgbClr val="FFFFFF"/>
                </a:solidFill>
                <a:latin typeface="Calibri"/>
                <a:ea typeface="Calibri"/>
                <a:cs typeface="Calibri"/>
                <a:sym typeface="Calibri"/>
              </a:rPr>
              <a:t>25</a:t>
            </a:r>
            <a:r>
              <a:rPr b="1" i="0" lang="en" sz="1100" u="none" cap="none" strike="noStrike">
                <a:solidFill>
                  <a:srgbClr val="FFFFFF"/>
                </a:solidFill>
                <a:latin typeface="Calibri"/>
                <a:ea typeface="Calibri"/>
                <a:cs typeface="Calibri"/>
                <a:sym typeface="Calibri"/>
              </a:rPr>
              <a:t>6-dimensional comparison space</a:t>
            </a:r>
            <a:endParaRPr sz="1100"/>
          </a:p>
        </p:txBody>
      </p:sp>
      <p:sp>
        <p:nvSpPr>
          <p:cNvPr id="208" name="Google Shape;208;p18"/>
          <p:cNvSpPr/>
          <p:nvPr/>
        </p:nvSpPr>
        <p:spPr>
          <a:xfrm>
            <a:off x="7065523" y="1954593"/>
            <a:ext cx="1509000" cy="370200"/>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9" name="Google Shape;209;p18"/>
          <p:cNvSpPr txBox="1"/>
          <p:nvPr/>
        </p:nvSpPr>
        <p:spPr>
          <a:xfrm>
            <a:off x="7099722" y="2020432"/>
            <a:ext cx="14406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200">
                <a:solidFill>
                  <a:schemeClr val="lt1"/>
                </a:solidFill>
              </a:rPr>
              <a:t>HR deviation</a:t>
            </a:r>
            <a:endParaRPr sz="1100">
              <a:solidFill>
                <a:schemeClr val="lt1"/>
              </a:solidFill>
            </a:endParaRPr>
          </a:p>
        </p:txBody>
      </p:sp>
      <p:sp>
        <p:nvSpPr>
          <p:cNvPr id="210" name="Google Shape;210;p18"/>
          <p:cNvSpPr/>
          <p:nvPr/>
        </p:nvSpPr>
        <p:spPr>
          <a:xfrm>
            <a:off x="7048423" y="2462280"/>
            <a:ext cx="1509000" cy="370200"/>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1" name="Google Shape;211;p18"/>
          <p:cNvSpPr txBox="1"/>
          <p:nvPr/>
        </p:nvSpPr>
        <p:spPr>
          <a:xfrm>
            <a:off x="7082622" y="2528119"/>
            <a:ext cx="1440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100">
                <a:solidFill>
                  <a:schemeClr val="lt1"/>
                </a:solidFill>
              </a:rPr>
              <a:t>Respiratory rate</a:t>
            </a:r>
            <a:endParaRPr sz="1100">
              <a:solidFill>
                <a:schemeClr val="lt1"/>
              </a:solidFill>
            </a:endParaRPr>
          </a:p>
        </p:txBody>
      </p:sp>
      <p:sp>
        <p:nvSpPr>
          <p:cNvPr id="212" name="Google Shape;212;p18"/>
          <p:cNvSpPr/>
          <p:nvPr/>
        </p:nvSpPr>
        <p:spPr>
          <a:xfrm>
            <a:off x="7065523" y="2950521"/>
            <a:ext cx="1509000" cy="370200"/>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3" name="Google Shape;213;p18"/>
          <p:cNvSpPr txBox="1"/>
          <p:nvPr/>
        </p:nvSpPr>
        <p:spPr>
          <a:xfrm>
            <a:off x="7099722" y="3020532"/>
            <a:ext cx="1440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100">
                <a:solidFill>
                  <a:schemeClr val="lt1"/>
                </a:solidFill>
              </a:rPr>
              <a:t>GCS deficit</a:t>
            </a:r>
            <a:endParaRPr sz="1100">
              <a:solidFill>
                <a:schemeClr val="lt1"/>
              </a:solidFill>
            </a:endParaRPr>
          </a:p>
        </p:txBody>
      </p:sp>
      <p:sp>
        <p:nvSpPr>
          <p:cNvPr id="214" name="Google Shape;214;p18"/>
          <p:cNvSpPr/>
          <p:nvPr/>
        </p:nvSpPr>
        <p:spPr>
          <a:xfrm>
            <a:off x="7065523" y="3438780"/>
            <a:ext cx="1509000" cy="370200"/>
          </a:xfrm>
          <a:prstGeom prst="rect">
            <a:avLst/>
          </a:prstGeom>
          <a:solidFill>
            <a:srgbClr val="0D1117"/>
          </a:solidFill>
          <a:ln cap="flat" cmpd="sng" w="9525">
            <a:solidFill>
              <a:srgbClr val="8B5CF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5" name="Google Shape;215;p18"/>
          <p:cNvSpPr txBox="1"/>
          <p:nvPr/>
        </p:nvSpPr>
        <p:spPr>
          <a:xfrm>
            <a:off x="7099722" y="3504619"/>
            <a:ext cx="1440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100">
                <a:solidFill>
                  <a:schemeClr val="lt1"/>
                </a:solidFill>
              </a:rPr>
              <a:t>Lactate</a:t>
            </a:r>
            <a:endParaRPr sz="1100">
              <a:solidFill>
                <a:schemeClr val="lt1"/>
              </a:solidFill>
            </a:endParaRPr>
          </a:p>
        </p:txBody>
      </p:sp>
      <p:sp>
        <p:nvSpPr>
          <p:cNvPr id="216" name="Google Shape;216;p18"/>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21" name="Shape 221"/>
        <p:cNvGrpSpPr/>
        <p:nvPr/>
      </p:nvGrpSpPr>
      <p:grpSpPr>
        <a:xfrm>
          <a:off x="0" y="0"/>
          <a:ext cx="0" cy="0"/>
          <a:chOff x="0" y="0"/>
          <a:chExt cx="0" cy="0"/>
        </a:xfrm>
      </p:grpSpPr>
      <p:sp>
        <p:nvSpPr>
          <p:cNvPr id="222" name="Google Shape;222;p19"/>
          <p:cNvSpPr/>
          <p:nvPr/>
        </p:nvSpPr>
        <p:spPr>
          <a:xfrm>
            <a:off x="0" y="0"/>
            <a:ext cx="9144002" cy="48006"/>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3" name="Google Shape;223;p19"/>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900" u="none" cap="none" strike="noStrike">
                <a:solidFill>
                  <a:srgbClr val="F0F6FC"/>
                </a:solidFill>
                <a:latin typeface="Calibri"/>
                <a:ea typeface="Calibri"/>
                <a:cs typeface="Calibri"/>
                <a:sym typeface="Calibri"/>
              </a:rPr>
              <a:t>How We Allocate Beds </a:t>
            </a:r>
            <a:r>
              <a:rPr b="1" lang="en" sz="2900">
                <a:solidFill>
                  <a:srgbClr val="F0F6FC"/>
                </a:solidFill>
                <a:latin typeface="Calibri"/>
                <a:ea typeface="Calibri"/>
                <a:cs typeface="Calibri"/>
                <a:sym typeface="Calibri"/>
              </a:rPr>
              <a:t>–</a:t>
            </a:r>
            <a:r>
              <a:rPr b="1" i="0" lang="en" sz="2900" u="none" cap="none" strike="noStrike">
                <a:solidFill>
                  <a:srgbClr val="F0F6FC"/>
                </a:solidFill>
                <a:latin typeface="Calibri"/>
                <a:ea typeface="Calibri"/>
                <a:cs typeface="Calibri"/>
                <a:sym typeface="Calibri"/>
              </a:rPr>
              <a:t>&gt; Optimization as Physics</a:t>
            </a:r>
            <a:endParaRPr sz="1100"/>
          </a:p>
        </p:txBody>
      </p:sp>
      <p:cxnSp>
        <p:nvCxnSpPr>
          <p:cNvPr id="224" name="Google Shape;224;p19"/>
          <p:cNvCxnSpPr/>
          <p:nvPr/>
        </p:nvCxnSpPr>
        <p:spPr>
          <a:xfrm>
            <a:off x="308687" y="685800"/>
            <a:ext cx="8526627" cy="0"/>
          </a:xfrm>
          <a:prstGeom prst="straightConnector1">
            <a:avLst/>
          </a:prstGeom>
          <a:noFill/>
          <a:ln cap="flat" cmpd="sng" w="15225">
            <a:solidFill>
              <a:srgbClr val="F59E0B"/>
            </a:solidFill>
            <a:prstDash val="solid"/>
            <a:round/>
            <a:headEnd len="sm" w="sm" type="none"/>
            <a:tailEnd len="sm" w="sm" type="none"/>
          </a:ln>
          <a:effectLst>
            <a:outerShdw blurRad="40000" rotWithShape="0" dir="5400000" dist="20000">
              <a:srgbClr val="000000">
                <a:alpha val="38039"/>
              </a:srgbClr>
            </a:outerShdw>
          </a:effectLst>
        </p:spPr>
      </p:cxnSp>
      <p:sp>
        <p:nvSpPr>
          <p:cNvPr id="225" name="Google Shape;225;p19"/>
          <p:cNvSpPr/>
          <p:nvPr/>
        </p:nvSpPr>
        <p:spPr>
          <a:xfrm>
            <a:off x="274389" y="788670"/>
            <a:ext cx="4047232" cy="3840480"/>
          </a:xfrm>
          <a:prstGeom prst="rect">
            <a:avLst/>
          </a:prstGeom>
          <a:solidFill>
            <a:srgbClr val="161B22"/>
          </a:solidFill>
          <a:ln cap="flat" cmpd="sng" w="15225">
            <a:solidFill>
              <a:srgbClr val="F59E0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6" name="Google Shape;226;p19"/>
          <p:cNvSpPr/>
          <p:nvPr/>
        </p:nvSpPr>
        <p:spPr>
          <a:xfrm>
            <a:off x="274389" y="788670"/>
            <a:ext cx="48018" cy="3840480"/>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7" name="Google Shape;227;p19"/>
          <p:cNvSpPr txBox="1"/>
          <p:nvPr/>
        </p:nvSpPr>
        <p:spPr>
          <a:xfrm>
            <a:off x="411583" y="877824"/>
            <a:ext cx="3841441"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F59E0B"/>
                </a:solidFill>
                <a:latin typeface="Calibri"/>
                <a:ea typeface="Calibri"/>
                <a:cs typeface="Calibri"/>
                <a:sym typeface="Calibri"/>
              </a:rPr>
              <a:t>The Concept</a:t>
            </a:r>
            <a:endParaRPr sz="1100"/>
          </a:p>
        </p:txBody>
      </p:sp>
      <p:sp>
        <p:nvSpPr>
          <p:cNvPr id="228" name="Google Shape;228;p19"/>
          <p:cNvSpPr txBox="1"/>
          <p:nvPr/>
        </p:nvSpPr>
        <p:spPr>
          <a:xfrm>
            <a:off x="411583" y="1289304"/>
            <a:ext cx="3841500" cy="2439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F0F6FC"/>
                </a:solidFill>
                <a:latin typeface="Calibri"/>
                <a:ea typeface="Calibri"/>
                <a:cs typeface="Calibri"/>
                <a:sym typeface="Calibri"/>
              </a:rPr>
              <a:t>We turn bed assignment into a</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physics energy problem.</a:t>
            </a:r>
            <a:br>
              <a:rPr b="0" i="0" lang="en" sz="1400" u="none" cap="none" strike="noStrike">
                <a:solidFill>
                  <a:srgbClr val="F0F6FC"/>
                </a:solidFill>
                <a:latin typeface="Calibri"/>
                <a:ea typeface="Calibri"/>
                <a:cs typeface="Calibri"/>
                <a:sym typeface="Calibri"/>
              </a:rPr>
            </a:b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Every patient-bed combination</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has an 'energy cost'.</a:t>
            </a:r>
            <a:br>
              <a:rPr b="0" i="0" lang="en" sz="1400" u="none" cap="none" strike="noStrike">
                <a:solidFill>
                  <a:srgbClr val="F0F6FC"/>
                </a:solidFill>
                <a:latin typeface="Calibri"/>
                <a:ea typeface="Calibri"/>
                <a:cs typeface="Calibri"/>
                <a:sym typeface="Calibri"/>
              </a:rPr>
            </a:b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The optimizer finds the arrangement</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with the lowest total energy</a:t>
            </a:r>
            <a:r>
              <a:rPr lang="en">
                <a:solidFill>
                  <a:srgbClr val="F0F6FC"/>
                </a:solidFill>
                <a:latin typeface="Calibri"/>
                <a:ea typeface="Calibri"/>
                <a:cs typeface="Calibri"/>
                <a:sym typeface="Calibri"/>
              </a:rPr>
              <a:t>, </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which means the right patients</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in the right beds, with no</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conflicts and no overflow.</a:t>
            </a:r>
            <a:endParaRPr sz="1100"/>
          </a:p>
        </p:txBody>
      </p:sp>
      <p:sp>
        <p:nvSpPr>
          <p:cNvPr id="229" name="Google Shape;229;p19"/>
          <p:cNvSpPr/>
          <p:nvPr/>
        </p:nvSpPr>
        <p:spPr>
          <a:xfrm>
            <a:off x="4698905" y="788670"/>
            <a:ext cx="4184427" cy="3840480"/>
          </a:xfrm>
          <a:prstGeom prst="rect">
            <a:avLst/>
          </a:prstGeom>
          <a:solidFill>
            <a:srgbClr val="161B22"/>
          </a:solidFill>
          <a:ln cap="flat" cmpd="sng" w="15225">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0" name="Google Shape;230;p19"/>
          <p:cNvSpPr/>
          <p:nvPr/>
        </p:nvSpPr>
        <p:spPr>
          <a:xfrm>
            <a:off x="4698905" y="788670"/>
            <a:ext cx="48018" cy="3840480"/>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1" name="Google Shape;231;p19"/>
          <p:cNvSpPr txBox="1"/>
          <p:nvPr/>
        </p:nvSpPr>
        <p:spPr>
          <a:xfrm>
            <a:off x="4836100" y="877824"/>
            <a:ext cx="3978635"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10B981"/>
                </a:solidFill>
                <a:latin typeface="Calibri"/>
                <a:ea typeface="Calibri"/>
                <a:cs typeface="Calibri"/>
                <a:sym typeface="Calibri"/>
              </a:rPr>
              <a:t>The Hamiltonian</a:t>
            </a:r>
            <a:endParaRPr sz="1100"/>
          </a:p>
        </p:txBody>
      </p:sp>
      <p:sp>
        <p:nvSpPr>
          <p:cNvPr id="232" name="Google Shape;232;p19"/>
          <p:cNvSpPr txBox="1"/>
          <p:nvPr/>
        </p:nvSpPr>
        <p:spPr>
          <a:xfrm>
            <a:off x="4719485" y="1303020"/>
            <a:ext cx="4170600" cy="669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300" u="none" cap="none" strike="noStrike">
                <a:solidFill>
                  <a:srgbClr val="10B981"/>
                </a:solidFill>
                <a:latin typeface="Calibri"/>
                <a:ea typeface="Calibri"/>
                <a:cs typeface="Calibri"/>
                <a:sym typeface="Calibri"/>
              </a:rPr>
              <a:t>H  =  −Σ urgency × resource utility</a:t>
            </a:r>
            <a:br>
              <a:rPr b="1" i="0" lang="en" sz="1300" u="none" cap="none" strike="noStrike">
                <a:solidFill>
                  <a:srgbClr val="10B981"/>
                </a:solidFill>
                <a:latin typeface="Calibri"/>
                <a:ea typeface="Calibri"/>
                <a:cs typeface="Calibri"/>
                <a:sym typeface="Calibri"/>
              </a:rPr>
            </a:br>
            <a:r>
              <a:rPr b="1" i="0" lang="en" sz="1300" u="none" cap="none" strike="noStrike">
                <a:solidFill>
                  <a:srgbClr val="10B981"/>
                </a:solidFill>
                <a:latin typeface="Calibri"/>
                <a:ea typeface="Calibri"/>
                <a:cs typeface="Calibri"/>
                <a:sym typeface="Calibri"/>
              </a:rPr>
              <a:t>     + α × (</a:t>
            </a:r>
            <a:r>
              <a:rPr b="1" lang="en" sz="1300">
                <a:solidFill>
                  <a:srgbClr val="10B981"/>
                </a:solidFill>
                <a:latin typeface="Calibri"/>
                <a:ea typeface="Calibri"/>
                <a:cs typeface="Calibri"/>
                <a:sym typeface="Calibri"/>
              </a:rPr>
              <a:t>uniqueness constant</a:t>
            </a:r>
            <a:r>
              <a:rPr b="1" i="0" lang="en" sz="1300" u="none" cap="none" strike="noStrike">
                <a:solidFill>
                  <a:srgbClr val="10B981"/>
                </a:solidFill>
                <a:latin typeface="Calibri"/>
                <a:ea typeface="Calibri"/>
                <a:cs typeface="Calibri"/>
                <a:sym typeface="Calibri"/>
              </a:rPr>
              <a:t>)</a:t>
            </a:r>
            <a:br>
              <a:rPr b="1" i="0" lang="en" sz="1300" u="none" cap="none" strike="noStrike">
                <a:solidFill>
                  <a:srgbClr val="10B981"/>
                </a:solidFill>
                <a:latin typeface="Calibri"/>
                <a:ea typeface="Calibri"/>
                <a:cs typeface="Calibri"/>
                <a:sym typeface="Calibri"/>
              </a:rPr>
            </a:br>
            <a:r>
              <a:rPr b="1" i="0" lang="en" sz="1300" u="none" cap="none" strike="noStrike">
                <a:solidFill>
                  <a:srgbClr val="10B981"/>
                </a:solidFill>
                <a:latin typeface="Calibri"/>
                <a:ea typeface="Calibri"/>
                <a:cs typeface="Calibri"/>
                <a:sym typeface="Calibri"/>
              </a:rPr>
              <a:t>     + β × (respect capacity)</a:t>
            </a:r>
            <a:endParaRPr sz="1100"/>
          </a:p>
        </p:txBody>
      </p:sp>
      <p:cxnSp>
        <p:nvCxnSpPr>
          <p:cNvPr id="233" name="Google Shape;233;p19"/>
          <p:cNvCxnSpPr/>
          <p:nvPr/>
        </p:nvCxnSpPr>
        <p:spPr>
          <a:xfrm>
            <a:off x="4870398" y="2180844"/>
            <a:ext cx="3875740" cy="0"/>
          </a:xfrm>
          <a:prstGeom prst="straightConnector1">
            <a:avLst/>
          </a:prstGeom>
          <a:noFill/>
          <a:ln cap="flat" cmpd="sng" w="9525">
            <a:solidFill>
              <a:srgbClr val="8B949E"/>
            </a:solidFill>
            <a:prstDash val="solid"/>
            <a:round/>
            <a:headEnd len="sm" w="sm" type="none"/>
            <a:tailEnd len="sm" w="sm" type="none"/>
          </a:ln>
          <a:effectLst>
            <a:outerShdw blurRad="40000" rotWithShape="0" dir="5400000" dist="20000">
              <a:srgbClr val="000000">
                <a:alpha val="38039"/>
              </a:srgbClr>
            </a:outerShdw>
          </a:effectLst>
        </p:spPr>
      </p:cxnSp>
      <p:sp>
        <p:nvSpPr>
          <p:cNvPr id="234" name="Google Shape;234;p19"/>
          <p:cNvSpPr txBox="1"/>
          <p:nvPr/>
        </p:nvSpPr>
        <p:spPr>
          <a:xfrm>
            <a:off x="4870398" y="2263140"/>
            <a:ext cx="3944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EF4444"/>
                </a:solidFill>
                <a:latin typeface="Calibri"/>
                <a:ea typeface="Calibri"/>
                <a:cs typeface="Calibri"/>
                <a:sym typeface="Calibri"/>
              </a:rPr>
              <a:t>The </a:t>
            </a:r>
            <a:r>
              <a:rPr b="1" lang="en">
                <a:solidFill>
                  <a:srgbClr val="EF4444"/>
                </a:solidFill>
                <a:latin typeface="Calibri"/>
                <a:ea typeface="Calibri"/>
                <a:cs typeface="Calibri"/>
                <a:sym typeface="Calibri"/>
              </a:rPr>
              <a:t>issue</a:t>
            </a:r>
            <a:r>
              <a:rPr b="1" i="0" lang="en" sz="1400" u="none" cap="none" strike="noStrike">
                <a:solidFill>
                  <a:srgbClr val="EF4444"/>
                </a:solidFill>
                <a:latin typeface="Calibri"/>
                <a:ea typeface="Calibri"/>
                <a:cs typeface="Calibri"/>
                <a:sym typeface="Calibri"/>
              </a:rPr>
              <a:t> We Found &amp; Fixed:</a:t>
            </a:r>
            <a:endParaRPr sz="1100"/>
          </a:p>
        </p:txBody>
      </p:sp>
      <p:sp>
        <p:nvSpPr>
          <p:cNvPr id="235" name="Google Shape;235;p19"/>
          <p:cNvSpPr txBox="1"/>
          <p:nvPr/>
        </p:nvSpPr>
        <p:spPr>
          <a:xfrm>
            <a:off x="4870398" y="2619756"/>
            <a:ext cx="3944400" cy="191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F0F6FC"/>
                </a:solidFill>
                <a:latin typeface="Calibri"/>
                <a:ea typeface="Calibri"/>
                <a:cs typeface="Calibri"/>
                <a:sym typeface="Calibri"/>
              </a:rPr>
              <a:t>Hardcoded α = 20 caused the optimizer</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to assign the same patient to both</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ICU and Ventilator simultaneously.</a:t>
            </a:r>
            <a:br>
              <a:rPr b="0" i="0" lang="en" sz="1200" u="none" cap="none" strike="noStrike">
                <a:solidFill>
                  <a:srgbClr val="F0F6FC"/>
                </a:solidFill>
                <a:latin typeface="Calibri"/>
                <a:ea typeface="Calibri"/>
                <a:cs typeface="Calibri"/>
                <a:sym typeface="Calibri"/>
              </a:rPr>
            </a:b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We derived α analytically</a:t>
            </a:r>
            <a:r>
              <a:rPr lang="en" sz="1200">
                <a:solidFill>
                  <a:srgbClr val="F0F6FC"/>
                </a:solidFill>
                <a:latin typeface="Calibri"/>
                <a:ea typeface="Calibri"/>
                <a:cs typeface="Calibri"/>
                <a:sym typeface="Calibri"/>
              </a:rPr>
              <a:t>,</a:t>
            </a:r>
            <a:r>
              <a:rPr b="0" i="0" lang="en" sz="1200" u="none" cap="none" strike="noStrike">
                <a:solidFill>
                  <a:srgbClr val="F0F6FC"/>
                </a:solidFill>
                <a:latin typeface="Calibri"/>
                <a:ea typeface="Calibri"/>
                <a:cs typeface="Calibri"/>
                <a:sym typeface="Calibri"/>
              </a:rPr>
              <a:t> it must be</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computed at runtime, not guessed.</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Today it's ≈ 161 in surge conditions.</a:t>
            </a:r>
            <a:br>
              <a:rPr b="0" i="0" lang="en" sz="1200" u="none" cap="none" strike="noStrike">
                <a:solidFill>
                  <a:srgbClr val="F0F6FC"/>
                </a:solidFill>
                <a:latin typeface="Calibri"/>
                <a:ea typeface="Calibri"/>
                <a:cs typeface="Calibri"/>
                <a:sym typeface="Calibri"/>
              </a:rPr>
            </a:b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Double-assignment is now</a:t>
            </a:r>
            <a:br>
              <a:rPr b="0" i="0" lang="en" sz="1200" u="none" cap="none" strike="noStrike">
                <a:solidFill>
                  <a:srgbClr val="F0F6FC"/>
                </a:solidFill>
                <a:latin typeface="Calibri"/>
                <a:ea typeface="Calibri"/>
                <a:cs typeface="Calibri"/>
                <a:sym typeface="Calibri"/>
              </a:rPr>
            </a:br>
            <a:r>
              <a:rPr b="0" i="0" lang="en" sz="1200" u="none" cap="none" strike="noStrike">
                <a:solidFill>
                  <a:srgbClr val="F0F6FC"/>
                </a:solidFill>
                <a:latin typeface="Calibri"/>
                <a:ea typeface="Calibri"/>
                <a:cs typeface="Calibri"/>
                <a:sym typeface="Calibri"/>
              </a:rPr>
              <a:t>mathematically impossible.</a:t>
            </a:r>
            <a:endParaRPr sz="1100"/>
          </a:p>
        </p:txBody>
      </p:sp>
      <p:sp>
        <p:nvSpPr>
          <p:cNvPr id="236" name="Google Shape;236;p19"/>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41" name="Shape 241"/>
        <p:cNvGrpSpPr/>
        <p:nvPr/>
      </p:nvGrpSpPr>
      <p:grpSpPr>
        <a:xfrm>
          <a:off x="0" y="0"/>
          <a:ext cx="0" cy="0"/>
          <a:chOff x="0" y="0"/>
          <a:chExt cx="0" cy="0"/>
        </a:xfrm>
      </p:grpSpPr>
      <p:sp>
        <p:nvSpPr>
          <p:cNvPr id="242" name="Google Shape;242;p20"/>
          <p:cNvSpPr/>
          <p:nvPr/>
        </p:nvSpPr>
        <p:spPr>
          <a:xfrm>
            <a:off x="0" y="0"/>
            <a:ext cx="9144002" cy="48006"/>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3" name="Google Shape;243;p20"/>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900" u="none" cap="none" strike="noStrike">
                <a:solidFill>
                  <a:srgbClr val="F0F6FC"/>
                </a:solidFill>
                <a:latin typeface="Calibri"/>
                <a:ea typeface="Calibri"/>
                <a:cs typeface="Calibri"/>
                <a:sym typeface="Calibri"/>
              </a:rPr>
              <a:t>Beds Are Half the Problem</a:t>
            </a:r>
            <a:r>
              <a:rPr b="1" lang="en" sz="2900">
                <a:solidFill>
                  <a:srgbClr val="F0F6FC"/>
                </a:solidFill>
                <a:latin typeface="Calibri"/>
                <a:ea typeface="Calibri"/>
                <a:cs typeface="Calibri"/>
                <a:sym typeface="Calibri"/>
              </a:rPr>
              <a:t>,</a:t>
            </a:r>
            <a:r>
              <a:rPr b="1" i="0" lang="en" sz="2900" u="none" cap="none" strike="noStrike">
                <a:solidFill>
                  <a:srgbClr val="F0F6FC"/>
                </a:solidFill>
                <a:latin typeface="Calibri"/>
                <a:ea typeface="Calibri"/>
                <a:cs typeface="Calibri"/>
                <a:sym typeface="Calibri"/>
              </a:rPr>
              <a:t> Staff Is the Other Half</a:t>
            </a:r>
            <a:endParaRPr sz="1100"/>
          </a:p>
        </p:txBody>
      </p:sp>
      <p:cxnSp>
        <p:nvCxnSpPr>
          <p:cNvPr id="244" name="Google Shape;244;p20"/>
          <p:cNvCxnSpPr/>
          <p:nvPr/>
        </p:nvCxnSpPr>
        <p:spPr>
          <a:xfrm>
            <a:off x="308687" y="685800"/>
            <a:ext cx="8526627" cy="0"/>
          </a:xfrm>
          <a:prstGeom prst="straightConnector1">
            <a:avLst/>
          </a:prstGeom>
          <a:noFill/>
          <a:ln cap="flat" cmpd="sng" w="15225">
            <a:solidFill>
              <a:srgbClr val="10B981"/>
            </a:solidFill>
            <a:prstDash val="solid"/>
            <a:round/>
            <a:headEnd len="sm" w="sm" type="none"/>
            <a:tailEnd len="sm" w="sm" type="none"/>
          </a:ln>
          <a:effectLst>
            <a:outerShdw blurRad="40000" rotWithShape="0" dir="5400000" dist="20000">
              <a:srgbClr val="000000">
                <a:alpha val="38039"/>
              </a:srgbClr>
            </a:outerShdw>
          </a:effectLst>
        </p:spPr>
      </p:cxnSp>
      <p:sp>
        <p:nvSpPr>
          <p:cNvPr id="245" name="Google Shape;245;p20"/>
          <p:cNvSpPr/>
          <p:nvPr/>
        </p:nvSpPr>
        <p:spPr>
          <a:xfrm>
            <a:off x="274389" y="822960"/>
            <a:ext cx="3841441" cy="3086100"/>
          </a:xfrm>
          <a:prstGeom prst="rect">
            <a:avLst/>
          </a:prstGeom>
          <a:solidFill>
            <a:srgbClr val="161B22"/>
          </a:solidFill>
          <a:ln cap="flat" cmpd="sng" w="22850">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6" name="Google Shape;246;p20"/>
          <p:cNvSpPr/>
          <p:nvPr/>
        </p:nvSpPr>
        <p:spPr>
          <a:xfrm>
            <a:off x="274389" y="822960"/>
            <a:ext cx="3841441"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 name="Google Shape;247;p20"/>
          <p:cNvSpPr txBox="1"/>
          <p:nvPr/>
        </p:nvSpPr>
        <p:spPr>
          <a:xfrm>
            <a:off x="377284" y="891540"/>
            <a:ext cx="36357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FFFFFF"/>
                </a:solidFill>
                <a:latin typeface="Calibri"/>
                <a:ea typeface="Calibri"/>
                <a:cs typeface="Calibri"/>
                <a:sym typeface="Calibri"/>
              </a:rPr>
              <a:t>STAGE 1  </a:t>
            </a:r>
            <a:r>
              <a:rPr b="1" lang="en" sz="1200">
                <a:solidFill>
                  <a:srgbClr val="FFFFFF"/>
                </a:solidFill>
                <a:latin typeface="Calibri"/>
                <a:ea typeface="Calibri"/>
                <a:cs typeface="Calibri"/>
                <a:sym typeface="Calibri"/>
              </a:rPr>
              <a:t>-</a:t>
            </a:r>
            <a:r>
              <a:rPr b="1" i="0" lang="en" sz="1200" u="none" cap="none" strike="noStrike">
                <a:solidFill>
                  <a:srgbClr val="FFFFFF"/>
                </a:solidFill>
                <a:latin typeface="Calibri"/>
                <a:ea typeface="Calibri"/>
                <a:cs typeface="Calibri"/>
                <a:sym typeface="Calibri"/>
              </a:rPr>
              <a:t>  Already Built</a:t>
            </a:r>
            <a:endParaRPr sz="1100"/>
          </a:p>
        </p:txBody>
      </p:sp>
      <p:sp>
        <p:nvSpPr>
          <p:cNvPr id="248" name="Google Shape;248;p20"/>
          <p:cNvSpPr txBox="1"/>
          <p:nvPr/>
        </p:nvSpPr>
        <p:spPr>
          <a:xfrm>
            <a:off x="377284" y="1303020"/>
            <a:ext cx="3635650" cy="44577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300" u="none" cap="none" strike="noStrike">
                <a:solidFill>
                  <a:srgbClr val="8B5CF6"/>
                </a:solidFill>
                <a:latin typeface="Calibri"/>
                <a:ea typeface="Calibri"/>
                <a:cs typeface="Calibri"/>
                <a:sym typeface="Calibri"/>
              </a:rPr>
              <a:t>Patient  →  Bed</a:t>
            </a:r>
            <a:endParaRPr sz="1100"/>
          </a:p>
        </p:txBody>
      </p:sp>
      <p:sp>
        <p:nvSpPr>
          <p:cNvPr id="249" name="Google Shape;249;p20"/>
          <p:cNvSpPr txBox="1"/>
          <p:nvPr/>
        </p:nvSpPr>
        <p:spPr>
          <a:xfrm>
            <a:off x="377284" y="1851660"/>
            <a:ext cx="3635650" cy="51435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rgbClr val="F0F6FC"/>
                </a:solidFill>
                <a:latin typeface="Calibri"/>
                <a:ea typeface="Calibri"/>
                <a:cs typeface="Calibri"/>
                <a:sym typeface="Calibri"/>
              </a:rPr>
              <a:t>8 patients  ×  3 resource types</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 24 binary variables</a:t>
            </a:r>
            <a:endParaRPr sz="1100"/>
          </a:p>
        </p:txBody>
      </p:sp>
      <p:sp>
        <p:nvSpPr>
          <p:cNvPr id="250" name="Google Shape;250;p20"/>
          <p:cNvSpPr txBox="1"/>
          <p:nvPr/>
        </p:nvSpPr>
        <p:spPr>
          <a:xfrm>
            <a:off x="377284" y="2434590"/>
            <a:ext cx="3635650"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8B949E"/>
                </a:solidFill>
                <a:latin typeface="Calibri"/>
                <a:ea typeface="Calibri"/>
                <a:cs typeface="Calibri"/>
                <a:sym typeface="Calibri"/>
              </a:rPr>
              <a:t>ICU  /  Ventilator  /  General Ward</a:t>
            </a:r>
            <a:endParaRPr sz="1100"/>
          </a:p>
        </p:txBody>
      </p:sp>
      <p:sp>
        <p:nvSpPr>
          <p:cNvPr id="251" name="Google Shape;251;p20"/>
          <p:cNvSpPr txBox="1"/>
          <p:nvPr/>
        </p:nvSpPr>
        <p:spPr>
          <a:xfrm>
            <a:off x="377284" y="2914650"/>
            <a:ext cx="3635650"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700" u="none" cap="none" strike="noStrike">
                <a:solidFill>
                  <a:srgbClr val="10B981"/>
                </a:solidFill>
                <a:latin typeface="Calibri"/>
                <a:ea typeface="Calibri"/>
                <a:cs typeface="Calibri"/>
                <a:sym typeface="Calibri"/>
              </a:rPr>
              <a:t>Solved  ✓</a:t>
            </a:r>
            <a:endParaRPr sz="1100"/>
          </a:p>
        </p:txBody>
      </p:sp>
      <p:sp>
        <p:nvSpPr>
          <p:cNvPr id="252" name="Google Shape;252;p20"/>
          <p:cNvSpPr txBox="1"/>
          <p:nvPr/>
        </p:nvSpPr>
        <p:spPr>
          <a:xfrm>
            <a:off x="4218725" y="1851660"/>
            <a:ext cx="651673" cy="49377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900" u="none" cap="none" strike="noStrike">
                <a:solidFill>
                  <a:srgbClr val="8B5CF6"/>
                </a:solidFill>
                <a:latin typeface="Calibri"/>
                <a:ea typeface="Calibri"/>
                <a:cs typeface="Calibri"/>
                <a:sym typeface="Calibri"/>
              </a:rPr>
              <a:t>→</a:t>
            </a:r>
            <a:endParaRPr sz="1100"/>
          </a:p>
        </p:txBody>
      </p:sp>
      <p:sp>
        <p:nvSpPr>
          <p:cNvPr id="253" name="Google Shape;253;p20"/>
          <p:cNvSpPr txBox="1"/>
          <p:nvPr/>
        </p:nvSpPr>
        <p:spPr>
          <a:xfrm>
            <a:off x="4150128" y="2345436"/>
            <a:ext cx="788867" cy="44577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1" lang="en" sz="800" u="none" cap="none" strike="noStrike">
                <a:solidFill>
                  <a:srgbClr val="8B949E"/>
                </a:solidFill>
                <a:latin typeface="Calibri"/>
                <a:ea typeface="Calibri"/>
                <a:cs typeface="Calibri"/>
                <a:sym typeface="Calibri"/>
              </a:rPr>
              <a:t>coupling</a:t>
            </a:r>
            <a:br>
              <a:rPr b="0" i="1" lang="en" sz="800" u="none" cap="none" strike="noStrike">
                <a:solidFill>
                  <a:srgbClr val="8B949E"/>
                </a:solidFill>
                <a:latin typeface="Calibri"/>
                <a:ea typeface="Calibri"/>
                <a:cs typeface="Calibri"/>
                <a:sym typeface="Calibri"/>
              </a:rPr>
            </a:br>
            <a:r>
              <a:rPr b="0" i="1" lang="en" sz="800" u="none" cap="none" strike="noStrike">
                <a:solidFill>
                  <a:srgbClr val="8B949E"/>
                </a:solidFill>
                <a:latin typeface="Calibri"/>
                <a:ea typeface="Calibri"/>
                <a:cs typeface="Calibri"/>
                <a:sym typeface="Calibri"/>
              </a:rPr>
              <a:t>constraint</a:t>
            </a:r>
            <a:endParaRPr sz="1100"/>
          </a:p>
        </p:txBody>
      </p:sp>
      <p:sp>
        <p:nvSpPr>
          <p:cNvPr id="254" name="Google Shape;254;p20"/>
          <p:cNvSpPr/>
          <p:nvPr/>
        </p:nvSpPr>
        <p:spPr>
          <a:xfrm>
            <a:off x="5041891" y="822960"/>
            <a:ext cx="3841441" cy="3086100"/>
          </a:xfrm>
          <a:prstGeom prst="rect">
            <a:avLst/>
          </a:prstGeom>
          <a:solidFill>
            <a:srgbClr val="161B22"/>
          </a:solidFill>
          <a:ln cap="flat" cmpd="sng" w="22850">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5" name="Google Shape;255;p20"/>
          <p:cNvSpPr/>
          <p:nvPr/>
        </p:nvSpPr>
        <p:spPr>
          <a:xfrm>
            <a:off x="5041891" y="822960"/>
            <a:ext cx="3841441" cy="48006"/>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6" name="Google Shape;256;p20"/>
          <p:cNvSpPr txBox="1"/>
          <p:nvPr/>
        </p:nvSpPr>
        <p:spPr>
          <a:xfrm>
            <a:off x="5144787" y="891540"/>
            <a:ext cx="36357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FFFFFF"/>
                </a:solidFill>
                <a:latin typeface="Calibri"/>
                <a:ea typeface="Calibri"/>
                <a:cs typeface="Calibri"/>
                <a:sym typeface="Calibri"/>
              </a:rPr>
              <a:t>STAGE 2  </a:t>
            </a:r>
            <a:r>
              <a:rPr b="1" lang="en" sz="1200">
                <a:solidFill>
                  <a:srgbClr val="FFFFFF"/>
                </a:solidFill>
                <a:latin typeface="Calibri"/>
                <a:ea typeface="Calibri"/>
                <a:cs typeface="Calibri"/>
                <a:sym typeface="Calibri"/>
              </a:rPr>
              <a:t>- </a:t>
            </a:r>
            <a:r>
              <a:rPr b="1" i="0" lang="en" sz="1200" u="none" cap="none" strike="noStrike">
                <a:solidFill>
                  <a:srgbClr val="FFFFFF"/>
                </a:solidFill>
                <a:latin typeface="Calibri"/>
                <a:ea typeface="Calibri"/>
                <a:cs typeface="Calibri"/>
                <a:sym typeface="Calibri"/>
              </a:rPr>
              <a:t> Phase 2 Build</a:t>
            </a:r>
            <a:endParaRPr sz="1100"/>
          </a:p>
        </p:txBody>
      </p:sp>
      <p:sp>
        <p:nvSpPr>
          <p:cNvPr id="257" name="Google Shape;257;p20"/>
          <p:cNvSpPr txBox="1"/>
          <p:nvPr/>
        </p:nvSpPr>
        <p:spPr>
          <a:xfrm>
            <a:off x="5144787" y="1138420"/>
            <a:ext cx="3635700" cy="423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300" u="none" cap="none" strike="noStrike">
                <a:solidFill>
                  <a:srgbClr val="10B981"/>
                </a:solidFill>
                <a:latin typeface="Calibri"/>
                <a:ea typeface="Calibri"/>
                <a:cs typeface="Calibri"/>
                <a:sym typeface="Calibri"/>
              </a:rPr>
              <a:t>Staff  →  Patient</a:t>
            </a:r>
            <a:endParaRPr sz="1100"/>
          </a:p>
        </p:txBody>
      </p:sp>
      <p:sp>
        <p:nvSpPr>
          <p:cNvPr id="258" name="Google Shape;258;p20"/>
          <p:cNvSpPr txBox="1"/>
          <p:nvPr/>
        </p:nvSpPr>
        <p:spPr>
          <a:xfrm>
            <a:off x="5144787" y="1582960"/>
            <a:ext cx="3635700" cy="500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rgbClr val="F0F6FC"/>
                </a:solidFill>
                <a:latin typeface="Calibri"/>
                <a:ea typeface="Calibri"/>
                <a:cs typeface="Calibri"/>
                <a:sym typeface="Calibri"/>
              </a:rPr>
              <a:t>12 staff  ×  8 patients</a:t>
            </a:r>
            <a:br>
              <a:rPr b="0" i="0" lang="en" sz="1400" u="none" cap="none" strike="noStrike">
                <a:solidFill>
                  <a:srgbClr val="F0F6FC"/>
                </a:solidFill>
                <a:latin typeface="Calibri"/>
                <a:ea typeface="Calibri"/>
                <a:cs typeface="Calibri"/>
                <a:sym typeface="Calibri"/>
              </a:rPr>
            </a:br>
            <a:r>
              <a:rPr b="0" i="0" lang="en" sz="1400" u="none" cap="none" strike="noStrike">
                <a:solidFill>
                  <a:srgbClr val="F0F6FC"/>
                </a:solidFill>
                <a:latin typeface="Calibri"/>
                <a:ea typeface="Calibri"/>
                <a:cs typeface="Calibri"/>
                <a:sym typeface="Calibri"/>
              </a:rPr>
              <a:t>= 96 binary variables</a:t>
            </a:r>
            <a:endParaRPr sz="1100"/>
          </a:p>
        </p:txBody>
      </p:sp>
      <p:sp>
        <p:nvSpPr>
          <p:cNvPr id="259" name="Google Shape;259;p20"/>
          <p:cNvSpPr txBox="1"/>
          <p:nvPr/>
        </p:nvSpPr>
        <p:spPr>
          <a:xfrm>
            <a:off x="5144800" y="2123778"/>
            <a:ext cx="36357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8B949E"/>
                </a:solidFill>
                <a:latin typeface="Calibri"/>
                <a:ea typeface="Calibri"/>
                <a:cs typeface="Calibri"/>
                <a:sym typeface="Calibri"/>
              </a:rPr>
              <a:t>ICU nurse  /  Vent specialist  /  General</a:t>
            </a:r>
            <a:endParaRPr sz="1100"/>
          </a:p>
        </p:txBody>
      </p:sp>
      <p:sp>
        <p:nvSpPr>
          <p:cNvPr id="260" name="Google Shape;260;p20"/>
          <p:cNvSpPr/>
          <p:nvPr/>
        </p:nvSpPr>
        <p:spPr>
          <a:xfrm>
            <a:off x="274389" y="4046220"/>
            <a:ext cx="8595224" cy="877824"/>
          </a:xfrm>
          <a:prstGeom prst="rect">
            <a:avLst/>
          </a:prstGeom>
          <a:solidFill>
            <a:srgbClr val="161B22"/>
          </a:solidFill>
          <a:ln cap="flat" cmpd="sng" w="12700">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1" name="Google Shape;261;p20"/>
          <p:cNvSpPr txBox="1"/>
          <p:nvPr/>
        </p:nvSpPr>
        <p:spPr>
          <a:xfrm>
            <a:off x="411583" y="4114800"/>
            <a:ext cx="2057915"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B981"/>
                </a:solidFill>
                <a:latin typeface="Calibri"/>
                <a:ea typeface="Calibri"/>
                <a:cs typeface="Calibri"/>
                <a:sym typeface="Calibri"/>
              </a:rPr>
              <a:t>The coupling rule:</a:t>
            </a:r>
            <a:endParaRPr sz="1100"/>
          </a:p>
        </p:txBody>
      </p:sp>
      <p:sp>
        <p:nvSpPr>
          <p:cNvPr id="262" name="Google Shape;262;p20"/>
          <p:cNvSpPr txBox="1"/>
          <p:nvPr/>
        </p:nvSpPr>
        <p:spPr>
          <a:xfrm>
            <a:off x="411583" y="4423410"/>
            <a:ext cx="83688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F0F6FC"/>
                </a:solidFill>
                <a:latin typeface="Calibri"/>
                <a:ea typeface="Calibri"/>
                <a:cs typeface="Calibri"/>
                <a:sym typeface="Calibri"/>
              </a:rPr>
              <a:t>If a patient lands in ICU (Stage 1), only ICU-qualified nurses can be assigned to them (Stage 2).  The optimizer also weighs staff fatigue</a:t>
            </a:r>
            <a:r>
              <a:rPr lang="en" sz="1100">
                <a:solidFill>
                  <a:srgbClr val="F0F6FC"/>
                </a:solidFill>
                <a:latin typeface="Calibri"/>
                <a:ea typeface="Calibri"/>
                <a:cs typeface="Calibri"/>
                <a:sym typeface="Calibri"/>
              </a:rPr>
              <a:t>,</a:t>
            </a:r>
            <a:r>
              <a:rPr b="0" i="0" lang="en" sz="1100" u="none" cap="none" strike="noStrike">
                <a:solidFill>
                  <a:srgbClr val="F0F6FC"/>
                </a:solidFill>
                <a:latin typeface="Calibri"/>
                <a:ea typeface="Calibri"/>
                <a:cs typeface="Calibri"/>
                <a:sym typeface="Calibri"/>
              </a:rPr>
              <a:t> a nurse at hour 7 of 8 has a reduced effective skill weight.</a:t>
            </a:r>
            <a:endParaRPr sz="1100"/>
          </a:p>
        </p:txBody>
      </p:sp>
      <p:sp>
        <p:nvSpPr>
          <p:cNvPr id="263" name="Google Shape;263;p20"/>
          <p:cNvSpPr txBox="1"/>
          <p:nvPr>
            <p:ph idx="12" type="sldNum"/>
          </p:nvPr>
        </p:nvSpPr>
        <p:spPr>
          <a:xfrm>
            <a:off x="7543505" y="4871121"/>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64" name="Google Shape;264;p20"/>
          <p:cNvSpPr txBox="1"/>
          <p:nvPr/>
        </p:nvSpPr>
        <p:spPr>
          <a:xfrm>
            <a:off x="5083087" y="2994458"/>
            <a:ext cx="3635700" cy="423300"/>
          </a:xfrm>
          <a:prstGeom prst="rect">
            <a:avLst/>
          </a:prstGeom>
          <a:noFill/>
          <a:ln>
            <a:noFill/>
          </a:ln>
        </p:spPr>
        <p:txBody>
          <a:bodyPr anchorCtr="0" anchor="t" bIns="34275" lIns="68575" spcFirstLastPara="1" rIns="68575" wrap="square" tIns="34275">
            <a:spAutoFit/>
          </a:bodyPr>
          <a:lstStyle/>
          <a:p>
            <a:pPr indent="-374650" lvl="0" marL="457200" marR="0" rtl="0" algn="ctr">
              <a:spcBef>
                <a:spcPts val="0"/>
              </a:spcBef>
              <a:spcAft>
                <a:spcPts val="0"/>
              </a:spcAft>
              <a:buClr>
                <a:srgbClr val="10B981"/>
              </a:buClr>
              <a:buSzPts val="2300"/>
              <a:buFont typeface="Calibri"/>
              <a:buChar char="+"/>
            </a:pPr>
            <a:r>
              <a:rPr b="1" i="0" lang="en" sz="2300" u="none" cap="none" strike="noStrike">
                <a:solidFill>
                  <a:srgbClr val="10B981"/>
                </a:solidFill>
                <a:latin typeface="Calibri"/>
                <a:ea typeface="Calibri"/>
                <a:cs typeface="Calibri"/>
                <a:sym typeface="Calibri"/>
              </a:rPr>
              <a:t>Patient Manually</a:t>
            </a:r>
            <a:endParaRPr sz="1100"/>
          </a:p>
        </p:txBody>
      </p:sp>
      <p:sp>
        <p:nvSpPr>
          <p:cNvPr id="265" name="Google Shape;265;p20"/>
          <p:cNvSpPr txBox="1"/>
          <p:nvPr/>
        </p:nvSpPr>
        <p:spPr>
          <a:xfrm>
            <a:off x="5144809" y="2373288"/>
            <a:ext cx="3635700" cy="330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700" u="none" cap="none" strike="noStrike">
                <a:solidFill>
                  <a:srgbClr val="10B981"/>
                </a:solidFill>
                <a:latin typeface="Calibri"/>
                <a:ea typeface="Calibri"/>
                <a:cs typeface="Calibri"/>
                <a:sym typeface="Calibri"/>
              </a:rPr>
              <a:t>Solved  ✓</a:t>
            </a:r>
            <a:endParaRPr sz="1100"/>
          </a:p>
        </p:txBody>
      </p:sp>
      <p:sp>
        <p:nvSpPr>
          <p:cNvPr id="266" name="Google Shape;266;p20"/>
          <p:cNvSpPr txBox="1"/>
          <p:nvPr/>
        </p:nvSpPr>
        <p:spPr>
          <a:xfrm>
            <a:off x="5144809" y="3398338"/>
            <a:ext cx="3635700" cy="330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700" u="none" cap="none" strike="noStrike">
                <a:solidFill>
                  <a:srgbClr val="10B981"/>
                </a:solidFill>
                <a:latin typeface="Calibri"/>
                <a:ea typeface="Calibri"/>
                <a:cs typeface="Calibri"/>
                <a:sym typeface="Calibri"/>
              </a:rPr>
              <a:t>Solved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71" name="Shape 271"/>
        <p:cNvGrpSpPr/>
        <p:nvPr/>
      </p:nvGrpSpPr>
      <p:grpSpPr>
        <a:xfrm>
          <a:off x="0" y="0"/>
          <a:ext cx="0" cy="0"/>
          <a:chOff x="0" y="0"/>
          <a:chExt cx="0" cy="0"/>
        </a:xfrm>
      </p:grpSpPr>
      <p:sp>
        <p:nvSpPr>
          <p:cNvPr id="272" name="Google Shape;272;p21"/>
          <p:cNvSpPr/>
          <p:nvPr/>
        </p:nvSpPr>
        <p:spPr>
          <a:xfrm>
            <a:off x="0" y="0"/>
            <a:ext cx="9144002" cy="48006"/>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3" name="Google Shape;273;p21"/>
          <p:cNvSpPr txBox="1"/>
          <p:nvPr/>
        </p:nvSpPr>
        <p:spPr>
          <a:xfrm>
            <a:off x="308687" y="123444"/>
            <a:ext cx="8506048"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900" u="none" cap="none" strike="noStrike">
                <a:solidFill>
                  <a:srgbClr val="F0F6FC"/>
                </a:solidFill>
                <a:latin typeface="Calibri"/>
                <a:ea typeface="Calibri"/>
                <a:cs typeface="Calibri"/>
                <a:sym typeface="Calibri"/>
              </a:rPr>
              <a:t>Four Things No One Else Can Claim</a:t>
            </a:r>
            <a:endParaRPr sz="1100"/>
          </a:p>
        </p:txBody>
      </p:sp>
      <p:cxnSp>
        <p:nvCxnSpPr>
          <p:cNvPr id="274" name="Google Shape;274;p21"/>
          <p:cNvCxnSpPr/>
          <p:nvPr/>
        </p:nvCxnSpPr>
        <p:spPr>
          <a:xfrm>
            <a:off x="308687" y="685800"/>
            <a:ext cx="8526627"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39"/>
              </a:srgbClr>
            </a:outerShdw>
          </a:effectLst>
        </p:spPr>
      </p:cxnSp>
      <p:sp>
        <p:nvSpPr>
          <p:cNvPr id="275" name="Google Shape;275;p21"/>
          <p:cNvSpPr/>
          <p:nvPr/>
        </p:nvSpPr>
        <p:spPr>
          <a:xfrm>
            <a:off x="274389" y="788670"/>
            <a:ext cx="2023616" cy="3257550"/>
          </a:xfrm>
          <a:prstGeom prst="rect">
            <a:avLst/>
          </a:prstGeom>
          <a:solidFill>
            <a:srgbClr val="161B22"/>
          </a:solidFill>
          <a:ln cap="flat" cmpd="sng" w="22850">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6" name="Google Shape;276;p21"/>
          <p:cNvSpPr/>
          <p:nvPr/>
        </p:nvSpPr>
        <p:spPr>
          <a:xfrm>
            <a:off x="274389" y="788670"/>
            <a:ext cx="2023616"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7" name="Google Shape;277;p21"/>
          <p:cNvSpPr/>
          <p:nvPr/>
        </p:nvSpPr>
        <p:spPr>
          <a:xfrm>
            <a:off x="274389" y="788670"/>
            <a:ext cx="48018" cy="3257550"/>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8" name="Google Shape;278;p21"/>
          <p:cNvSpPr txBox="1"/>
          <p:nvPr/>
        </p:nvSpPr>
        <p:spPr>
          <a:xfrm>
            <a:off x="411583" y="877824"/>
            <a:ext cx="1831544"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8B5CF6"/>
                </a:solidFill>
                <a:latin typeface="Calibri"/>
                <a:ea typeface="Calibri"/>
                <a:cs typeface="Calibri"/>
                <a:sym typeface="Calibri"/>
              </a:rPr>
              <a:t>Mathematical</a:t>
            </a:r>
            <a:br>
              <a:rPr b="1" i="0" lang="en" sz="1700" u="none" cap="none" strike="noStrike">
                <a:solidFill>
                  <a:srgbClr val="8B5CF6"/>
                </a:solidFill>
                <a:latin typeface="Calibri"/>
                <a:ea typeface="Calibri"/>
                <a:cs typeface="Calibri"/>
                <a:sym typeface="Calibri"/>
              </a:rPr>
            </a:br>
            <a:r>
              <a:rPr b="1" i="0" lang="en" sz="1700" u="none" cap="none" strike="noStrike">
                <a:solidFill>
                  <a:srgbClr val="8B5CF6"/>
                </a:solidFill>
                <a:latin typeface="Calibri"/>
                <a:ea typeface="Calibri"/>
                <a:cs typeface="Calibri"/>
                <a:sym typeface="Calibri"/>
              </a:rPr>
              <a:t>Guarantee</a:t>
            </a:r>
            <a:endParaRPr sz="1100"/>
          </a:p>
        </p:txBody>
      </p:sp>
      <p:cxnSp>
        <p:nvCxnSpPr>
          <p:cNvPr id="279" name="Google Shape;279;p21"/>
          <p:cNvCxnSpPr/>
          <p:nvPr/>
        </p:nvCxnSpPr>
        <p:spPr>
          <a:xfrm>
            <a:off x="425302" y="1659636"/>
            <a:ext cx="1769807" cy="0"/>
          </a:xfrm>
          <a:prstGeom prst="straightConnector1">
            <a:avLst/>
          </a:prstGeom>
          <a:noFill/>
          <a:ln cap="flat" cmpd="sng" w="9525">
            <a:solidFill>
              <a:srgbClr val="8B949E"/>
            </a:solidFill>
            <a:prstDash val="solid"/>
            <a:round/>
            <a:headEnd len="sm" w="sm" type="none"/>
            <a:tailEnd len="sm" w="sm" type="none"/>
          </a:ln>
          <a:effectLst>
            <a:outerShdw blurRad="40000" rotWithShape="0" dir="5400000" dist="20000">
              <a:srgbClr val="000000">
                <a:alpha val="38039"/>
              </a:srgbClr>
            </a:outerShdw>
          </a:effectLst>
        </p:spPr>
      </p:cxnSp>
      <p:sp>
        <p:nvSpPr>
          <p:cNvPr id="280" name="Google Shape;280;p21"/>
          <p:cNvSpPr txBox="1"/>
          <p:nvPr/>
        </p:nvSpPr>
        <p:spPr>
          <a:xfrm>
            <a:off x="411583" y="1748790"/>
            <a:ext cx="1831500" cy="86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F0F6FC"/>
                </a:solidFill>
                <a:latin typeface="Calibri"/>
                <a:ea typeface="Calibri"/>
                <a:cs typeface="Calibri"/>
                <a:sym typeface="Calibri"/>
              </a:rPr>
              <a:t>Dynamic α ≈ 161, derived at runtime.</a:t>
            </a:r>
            <a:br>
              <a:rPr b="0" i="0" lang="en" sz="1300" u="none" cap="none" strike="noStrike">
                <a:solidFill>
                  <a:srgbClr val="F0F6FC"/>
                </a:solidFill>
                <a:latin typeface="Calibri"/>
                <a:ea typeface="Calibri"/>
                <a:cs typeface="Calibri"/>
                <a:sym typeface="Calibri"/>
              </a:rPr>
            </a:br>
            <a:r>
              <a:rPr b="0" i="0" lang="en" sz="1300" u="none" cap="none" strike="noStrike">
                <a:solidFill>
                  <a:srgbClr val="F0F6FC"/>
                </a:solidFill>
                <a:latin typeface="Calibri"/>
                <a:ea typeface="Calibri"/>
                <a:cs typeface="Calibri"/>
                <a:sym typeface="Calibri"/>
              </a:rPr>
              <a:t>No double-assignment</a:t>
            </a:r>
            <a:r>
              <a:rPr lang="en" sz="1300">
                <a:solidFill>
                  <a:srgbClr val="F0F6FC"/>
                </a:solidFill>
                <a:latin typeface="Calibri"/>
                <a:ea typeface="Calibri"/>
                <a:cs typeface="Calibri"/>
                <a:sym typeface="Calibri"/>
              </a:rPr>
              <a:t>,</a:t>
            </a:r>
            <a:r>
              <a:rPr b="0" i="0" lang="en" sz="1300" u="none" cap="none" strike="noStrike">
                <a:solidFill>
                  <a:srgbClr val="F0F6FC"/>
                </a:solidFill>
                <a:latin typeface="Calibri"/>
                <a:ea typeface="Calibri"/>
                <a:cs typeface="Calibri"/>
                <a:sym typeface="Calibri"/>
              </a:rPr>
              <a:t> proven, not tuned.</a:t>
            </a:r>
            <a:endParaRPr sz="1100"/>
          </a:p>
        </p:txBody>
      </p:sp>
      <p:sp>
        <p:nvSpPr>
          <p:cNvPr id="281" name="Google Shape;281;p21"/>
          <p:cNvSpPr/>
          <p:nvPr/>
        </p:nvSpPr>
        <p:spPr>
          <a:xfrm>
            <a:off x="2503796" y="788670"/>
            <a:ext cx="2023616" cy="3257550"/>
          </a:xfrm>
          <a:prstGeom prst="rect">
            <a:avLst/>
          </a:prstGeom>
          <a:solidFill>
            <a:srgbClr val="161B22"/>
          </a:solidFill>
          <a:ln cap="flat" cmpd="sng" w="22850">
            <a:solidFill>
              <a:srgbClr val="F59E0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2" name="Google Shape;282;p21"/>
          <p:cNvSpPr/>
          <p:nvPr/>
        </p:nvSpPr>
        <p:spPr>
          <a:xfrm>
            <a:off x="2503796" y="788670"/>
            <a:ext cx="2023616" cy="48006"/>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3" name="Google Shape;283;p21"/>
          <p:cNvSpPr/>
          <p:nvPr/>
        </p:nvSpPr>
        <p:spPr>
          <a:xfrm>
            <a:off x="2503796" y="788670"/>
            <a:ext cx="48018" cy="3257550"/>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4" name="Google Shape;284;p21"/>
          <p:cNvSpPr txBox="1"/>
          <p:nvPr/>
        </p:nvSpPr>
        <p:spPr>
          <a:xfrm>
            <a:off x="2640991" y="877824"/>
            <a:ext cx="1831544"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F59E0B"/>
                </a:solidFill>
                <a:latin typeface="Calibri"/>
                <a:ea typeface="Calibri"/>
                <a:cs typeface="Calibri"/>
                <a:sym typeface="Calibri"/>
              </a:rPr>
              <a:t>AQI-Coupled</a:t>
            </a:r>
            <a:br>
              <a:rPr b="1" i="0" lang="en" sz="1700" u="none" cap="none" strike="noStrike">
                <a:solidFill>
                  <a:srgbClr val="F59E0B"/>
                </a:solidFill>
                <a:latin typeface="Calibri"/>
                <a:ea typeface="Calibri"/>
                <a:cs typeface="Calibri"/>
                <a:sym typeface="Calibri"/>
              </a:rPr>
            </a:br>
            <a:r>
              <a:rPr b="1" i="0" lang="en" sz="1700" u="none" cap="none" strike="noStrike">
                <a:solidFill>
                  <a:srgbClr val="F59E0B"/>
                </a:solidFill>
                <a:latin typeface="Calibri"/>
                <a:ea typeface="Calibri"/>
                <a:cs typeface="Calibri"/>
                <a:sym typeface="Calibri"/>
              </a:rPr>
              <a:t>Triage</a:t>
            </a:r>
            <a:endParaRPr sz="1100"/>
          </a:p>
        </p:txBody>
      </p:sp>
      <p:cxnSp>
        <p:nvCxnSpPr>
          <p:cNvPr id="285" name="Google Shape;285;p21"/>
          <p:cNvCxnSpPr/>
          <p:nvPr/>
        </p:nvCxnSpPr>
        <p:spPr>
          <a:xfrm>
            <a:off x="2654710" y="1659636"/>
            <a:ext cx="1769807" cy="0"/>
          </a:xfrm>
          <a:prstGeom prst="straightConnector1">
            <a:avLst/>
          </a:prstGeom>
          <a:noFill/>
          <a:ln cap="flat" cmpd="sng" w="9525">
            <a:solidFill>
              <a:srgbClr val="8B949E"/>
            </a:solidFill>
            <a:prstDash val="solid"/>
            <a:round/>
            <a:headEnd len="sm" w="sm" type="none"/>
            <a:tailEnd len="sm" w="sm" type="none"/>
          </a:ln>
          <a:effectLst>
            <a:outerShdw blurRad="40000" rotWithShape="0" dir="5400000" dist="20000">
              <a:srgbClr val="000000">
                <a:alpha val="38039"/>
              </a:srgbClr>
            </a:outerShdw>
          </a:effectLst>
        </p:spPr>
      </p:cxnSp>
      <p:sp>
        <p:nvSpPr>
          <p:cNvPr id="286" name="Google Shape;286;p21"/>
          <p:cNvSpPr txBox="1"/>
          <p:nvPr/>
        </p:nvSpPr>
        <p:spPr>
          <a:xfrm>
            <a:off x="2640991" y="1748790"/>
            <a:ext cx="1831544" cy="21945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F0F6FC"/>
                </a:solidFill>
                <a:latin typeface="Calibri"/>
                <a:ea typeface="Calibri"/>
                <a:cs typeface="Calibri"/>
                <a:sym typeface="Calibri"/>
              </a:rPr>
              <a:t>Environmental PM2.5 wired into urgency.</a:t>
            </a:r>
            <a:br>
              <a:rPr b="0" i="0" lang="en" sz="1300" u="none" cap="none" strike="noStrike">
                <a:solidFill>
                  <a:srgbClr val="F0F6FC"/>
                </a:solidFill>
                <a:latin typeface="Calibri"/>
                <a:ea typeface="Calibri"/>
                <a:cs typeface="Calibri"/>
                <a:sym typeface="Calibri"/>
              </a:rPr>
            </a:br>
            <a:r>
              <a:rPr b="0" i="0" lang="en" sz="1300" u="none" cap="none" strike="noStrike">
                <a:solidFill>
                  <a:srgbClr val="F0F6FC"/>
                </a:solidFill>
                <a:latin typeface="Calibri"/>
                <a:ea typeface="Calibri"/>
                <a:cs typeface="Calibri"/>
                <a:sym typeface="Calibri"/>
              </a:rPr>
              <a:t>AQI spike = automatic surge reallocation.</a:t>
            </a:r>
            <a:endParaRPr sz="1100"/>
          </a:p>
        </p:txBody>
      </p:sp>
      <p:sp>
        <p:nvSpPr>
          <p:cNvPr id="287" name="Google Shape;287;p21"/>
          <p:cNvSpPr/>
          <p:nvPr/>
        </p:nvSpPr>
        <p:spPr>
          <a:xfrm>
            <a:off x="4733204" y="788670"/>
            <a:ext cx="2023616" cy="3257550"/>
          </a:xfrm>
          <a:prstGeom prst="rect">
            <a:avLst/>
          </a:prstGeom>
          <a:solidFill>
            <a:srgbClr val="161B22"/>
          </a:solidFill>
          <a:ln cap="flat" cmpd="sng" w="22850">
            <a:solidFill>
              <a:srgbClr val="06B6D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8" name="Google Shape;288;p21"/>
          <p:cNvSpPr/>
          <p:nvPr/>
        </p:nvSpPr>
        <p:spPr>
          <a:xfrm>
            <a:off x="4733204" y="788670"/>
            <a:ext cx="2023616" cy="48006"/>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9" name="Google Shape;289;p21"/>
          <p:cNvSpPr/>
          <p:nvPr/>
        </p:nvSpPr>
        <p:spPr>
          <a:xfrm>
            <a:off x="4733204" y="788670"/>
            <a:ext cx="48018" cy="3257550"/>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0" name="Google Shape;290;p21"/>
          <p:cNvSpPr txBox="1"/>
          <p:nvPr/>
        </p:nvSpPr>
        <p:spPr>
          <a:xfrm>
            <a:off x="4870398" y="877824"/>
            <a:ext cx="1831544"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06B6D4"/>
                </a:solidFill>
                <a:latin typeface="Calibri"/>
                <a:ea typeface="Calibri"/>
                <a:cs typeface="Calibri"/>
                <a:sym typeface="Calibri"/>
              </a:rPr>
              <a:t>QPU-Portable</a:t>
            </a:r>
            <a:endParaRPr sz="1100"/>
          </a:p>
        </p:txBody>
      </p:sp>
      <p:cxnSp>
        <p:nvCxnSpPr>
          <p:cNvPr id="291" name="Google Shape;291;p21"/>
          <p:cNvCxnSpPr/>
          <p:nvPr/>
        </p:nvCxnSpPr>
        <p:spPr>
          <a:xfrm>
            <a:off x="4884118" y="1659636"/>
            <a:ext cx="1769807" cy="0"/>
          </a:xfrm>
          <a:prstGeom prst="straightConnector1">
            <a:avLst/>
          </a:prstGeom>
          <a:noFill/>
          <a:ln cap="flat" cmpd="sng" w="9525">
            <a:solidFill>
              <a:srgbClr val="8B949E"/>
            </a:solidFill>
            <a:prstDash val="solid"/>
            <a:round/>
            <a:headEnd len="sm" w="sm" type="none"/>
            <a:tailEnd len="sm" w="sm" type="none"/>
          </a:ln>
          <a:effectLst>
            <a:outerShdw blurRad="40000" rotWithShape="0" dir="5400000" dist="20000">
              <a:srgbClr val="000000">
                <a:alpha val="38039"/>
              </a:srgbClr>
            </a:outerShdw>
          </a:effectLst>
        </p:spPr>
      </p:cxnSp>
      <p:sp>
        <p:nvSpPr>
          <p:cNvPr id="292" name="Google Shape;292;p21"/>
          <p:cNvSpPr txBox="1"/>
          <p:nvPr/>
        </p:nvSpPr>
        <p:spPr>
          <a:xfrm>
            <a:off x="4870398" y="1748790"/>
            <a:ext cx="1831544" cy="21945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F0F6FC"/>
                </a:solidFill>
                <a:latin typeface="Calibri"/>
                <a:ea typeface="Calibri"/>
                <a:cs typeface="Calibri"/>
                <a:sym typeface="Calibri"/>
              </a:rPr>
              <a:t>Same QUBO compiles to IBM / D-Wave / IonQ.</a:t>
            </a:r>
            <a:br>
              <a:rPr b="0" i="0" lang="en" sz="1300" u="none" cap="none" strike="noStrike">
                <a:solidFill>
                  <a:srgbClr val="F0F6FC"/>
                </a:solidFill>
                <a:latin typeface="Calibri"/>
                <a:ea typeface="Calibri"/>
                <a:cs typeface="Calibri"/>
                <a:sym typeface="Calibri"/>
              </a:rPr>
            </a:br>
            <a:r>
              <a:rPr b="0" i="0" lang="en" sz="1300" u="none" cap="none" strike="noStrike">
                <a:solidFill>
                  <a:srgbClr val="F0F6FC"/>
                </a:solidFill>
                <a:latin typeface="Calibri"/>
                <a:ea typeface="Calibri"/>
                <a:cs typeface="Calibri"/>
                <a:sym typeface="Calibri"/>
              </a:rPr>
              <a:t>Swap the sampler. No code changes.</a:t>
            </a:r>
            <a:endParaRPr sz="1100"/>
          </a:p>
        </p:txBody>
      </p:sp>
      <p:sp>
        <p:nvSpPr>
          <p:cNvPr id="293" name="Google Shape;293;p21"/>
          <p:cNvSpPr/>
          <p:nvPr/>
        </p:nvSpPr>
        <p:spPr>
          <a:xfrm>
            <a:off x="6962612" y="788670"/>
            <a:ext cx="2023616" cy="3257550"/>
          </a:xfrm>
          <a:prstGeom prst="rect">
            <a:avLst/>
          </a:prstGeom>
          <a:solidFill>
            <a:srgbClr val="161B22"/>
          </a:solidFill>
          <a:ln cap="flat" cmpd="sng" w="22850">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4" name="Google Shape;294;p21"/>
          <p:cNvSpPr/>
          <p:nvPr/>
        </p:nvSpPr>
        <p:spPr>
          <a:xfrm>
            <a:off x="6962612" y="788670"/>
            <a:ext cx="2023616" cy="48006"/>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5" name="Google Shape;295;p21"/>
          <p:cNvSpPr/>
          <p:nvPr/>
        </p:nvSpPr>
        <p:spPr>
          <a:xfrm>
            <a:off x="6962612" y="788670"/>
            <a:ext cx="48018" cy="3257550"/>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6" name="Google Shape;296;p21"/>
          <p:cNvSpPr txBox="1"/>
          <p:nvPr/>
        </p:nvSpPr>
        <p:spPr>
          <a:xfrm>
            <a:off x="7099806" y="877824"/>
            <a:ext cx="1831544"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10B981"/>
                </a:solidFill>
                <a:latin typeface="Calibri"/>
                <a:ea typeface="Calibri"/>
                <a:cs typeface="Calibri"/>
                <a:sym typeface="Calibri"/>
              </a:rPr>
              <a:t>India-First</a:t>
            </a:r>
            <a:endParaRPr sz="1100"/>
          </a:p>
        </p:txBody>
      </p:sp>
      <p:cxnSp>
        <p:nvCxnSpPr>
          <p:cNvPr id="297" name="Google Shape;297;p21"/>
          <p:cNvCxnSpPr/>
          <p:nvPr/>
        </p:nvCxnSpPr>
        <p:spPr>
          <a:xfrm>
            <a:off x="7113526" y="1659636"/>
            <a:ext cx="1769807" cy="0"/>
          </a:xfrm>
          <a:prstGeom prst="straightConnector1">
            <a:avLst/>
          </a:prstGeom>
          <a:noFill/>
          <a:ln cap="flat" cmpd="sng" w="9525">
            <a:solidFill>
              <a:srgbClr val="8B949E"/>
            </a:solidFill>
            <a:prstDash val="solid"/>
            <a:round/>
            <a:headEnd len="sm" w="sm" type="none"/>
            <a:tailEnd len="sm" w="sm" type="none"/>
          </a:ln>
          <a:effectLst>
            <a:outerShdw blurRad="40000" rotWithShape="0" dir="5400000" dist="20000">
              <a:srgbClr val="000000">
                <a:alpha val="38039"/>
              </a:srgbClr>
            </a:outerShdw>
          </a:effectLst>
        </p:spPr>
      </p:cxnSp>
      <p:sp>
        <p:nvSpPr>
          <p:cNvPr id="298" name="Google Shape;298;p21"/>
          <p:cNvSpPr txBox="1"/>
          <p:nvPr/>
        </p:nvSpPr>
        <p:spPr>
          <a:xfrm>
            <a:off x="7099806" y="1748790"/>
            <a:ext cx="1831544" cy="21945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300" u="none" cap="none" strike="noStrike">
                <a:solidFill>
                  <a:srgbClr val="F0F6FC"/>
                </a:solidFill>
                <a:latin typeface="Calibri"/>
                <a:ea typeface="Calibri"/>
                <a:cs typeface="Calibri"/>
                <a:sym typeface="Calibri"/>
              </a:rPr>
              <a:t>NAQI tiers + Ayushman Bharat categories.</a:t>
            </a:r>
            <a:br>
              <a:rPr b="0" i="0" lang="en" sz="1300" u="none" cap="none" strike="noStrike">
                <a:solidFill>
                  <a:srgbClr val="F0F6FC"/>
                </a:solidFill>
                <a:latin typeface="Calibri"/>
                <a:ea typeface="Calibri"/>
                <a:cs typeface="Calibri"/>
                <a:sym typeface="Calibri"/>
              </a:rPr>
            </a:br>
            <a:r>
              <a:rPr b="0" i="0" lang="en" sz="1300" u="none" cap="none" strike="noStrike">
                <a:solidFill>
                  <a:srgbClr val="F0F6FC"/>
                </a:solidFill>
                <a:latin typeface="Calibri"/>
                <a:ea typeface="Calibri"/>
                <a:cs typeface="Calibri"/>
                <a:sym typeface="Calibri"/>
              </a:rPr>
              <a:t>National Quantum Mission grant-eligible.</a:t>
            </a:r>
            <a:endParaRPr sz="1100"/>
          </a:p>
        </p:txBody>
      </p:sp>
      <p:sp>
        <p:nvSpPr>
          <p:cNvPr id="299" name="Google Shape;299;p21"/>
          <p:cNvSpPr txBox="1"/>
          <p:nvPr>
            <p:ph idx="12" type="sldNum"/>
          </p:nvPr>
        </p:nvSpPr>
        <p:spPr>
          <a:xfrm>
            <a:off x="7543505" y="4855463"/>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04" name="Shape 304"/>
        <p:cNvGrpSpPr/>
        <p:nvPr/>
      </p:nvGrpSpPr>
      <p:grpSpPr>
        <a:xfrm>
          <a:off x="0" y="0"/>
          <a:ext cx="0" cy="0"/>
          <a:chOff x="0" y="0"/>
          <a:chExt cx="0" cy="0"/>
        </a:xfrm>
      </p:grpSpPr>
      <p:sp>
        <p:nvSpPr>
          <p:cNvPr id="305" name="Google Shape;305;p22"/>
          <p:cNvSpPr/>
          <p:nvPr/>
        </p:nvSpPr>
        <p:spPr>
          <a:xfrm>
            <a:off x="0" y="0"/>
            <a:ext cx="9144000" cy="48000"/>
          </a:xfrm>
          <a:prstGeom prst="rect">
            <a:avLst/>
          </a:prstGeom>
          <a:solidFill>
            <a:srgbClr val="06B6D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6" name="Google Shape;306;p22"/>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Comparing different routes</a:t>
            </a:r>
            <a:endParaRPr sz="1100"/>
          </a:p>
        </p:txBody>
      </p:sp>
      <p:cxnSp>
        <p:nvCxnSpPr>
          <p:cNvPr id="307" name="Google Shape;307;p22"/>
          <p:cNvCxnSpPr/>
          <p:nvPr/>
        </p:nvCxnSpPr>
        <p:spPr>
          <a:xfrm>
            <a:off x="308687" y="685800"/>
            <a:ext cx="8526600"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40"/>
              </a:srgbClr>
            </a:outerShdw>
          </a:effectLst>
        </p:spPr>
      </p:cxnSp>
      <p:graphicFrame>
        <p:nvGraphicFramePr>
          <p:cNvPr id="308" name="Google Shape;308;p22"/>
          <p:cNvGraphicFramePr/>
          <p:nvPr/>
        </p:nvGraphicFramePr>
        <p:xfrm>
          <a:off x="132300" y="732450"/>
          <a:ext cx="3000000" cy="3000000"/>
        </p:xfrm>
        <a:graphic>
          <a:graphicData uri="http://schemas.openxmlformats.org/drawingml/2006/table">
            <a:tbl>
              <a:tblPr>
                <a:noFill/>
                <a:tableStyleId>{2C5901DA-7AA8-44C7-A55D-51DBD9EA92E3}</a:tableStyleId>
              </a:tblPr>
              <a:tblGrid>
                <a:gridCol w="1277400"/>
                <a:gridCol w="1277400"/>
                <a:gridCol w="1277400"/>
                <a:gridCol w="1277400"/>
                <a:gridCol w="1277400"/>
                <a:gridCol w="1277400"/>
                <a:gridCol w="1277400"/>
              </a:tblGrid>
              <a:tr h="381000">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Criterion</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Manual</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Greedy</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Random Forest</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Neural Net</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ILP/Gurobi</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QSVM + QUBO</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Speed</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1 min/patient</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Instant</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Instant</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Instant</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Minutes–hours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Seconds (sim) / µs (QPU)</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Features used</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2–3</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2</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8</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8+</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8</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8 (Hilbert space)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Global optimization</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Staff assignment</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Manual</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Possible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 (Stage 2 QUBO)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Needs training data</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 (lots)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Explainability</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High</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High</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Medium</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Low</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High</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High (QUBO terms)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Scales to 1000 patients</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 (NP-hard)</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 (QPU)</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Qualification constraints</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Human memory</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 (γ penalty)</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Hardware ready today</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Yes</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Sim only (QPU soon)</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b="1" lang="en" sz="1100">
                          <a:solidFill>
                            <a:schemeClr val="lt1"/>
                          </a:solidFill>
                          <a:highlight>
                            <a:srgbClr val="191A1B"/>
                          </a:highlight>
                          <a:latin typeface="Roboto"/>
                          <a:ea typeface="Roboto"/>
                          <a:cs typeface="Roboto"/>
                          <a:sym typeface="Roboto"/>
                        </a:rPr>
                        <a:t>Quantum advantage</a:t>
                      </a:r>
                      <a:endParaRPr b="1"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None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None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None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None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None</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highlight>
                            <a:srgbClr val="191A1B"/>
                          </a:highlight>
                          <a:latin typeface="Roboto"/>
                          <a:ea typeface="Roboto"/>
                          <a:cs typeface="Roboto"/>
                          <a:sym typeface="Roboto"/>
                        </a:rPr>
                        <a:t>Kernel + tunneling</a:t>
                      </a:r>
                      <a:endParaRPr sz="1100">
                        <a:solidFill>
                          <a:schemeClr val="lt1"/>
                        </a:solidFill>
                        <a:highlight>
                          <a:srgbClr val="191A1B"/>
                        </a:highlight>
                        <a:latin typeface="Roboto"/>
                        <a:ea typeface="Roboto"/>
                        <a:cs typeface="Roboto"/>
                        <a:sym typeface="Roboto"/>
                      </a:endParaRPr>
                    </a:p>
                  </a:txBody>
                  <a:tcPr marT="19050" marB="19050" marR="19050" marL="19050">
                    <a:lnL cap="flat" cmpd="sng" w="4775">
                      <a:solidFill>
                        <a:srgbClr val="2A2B2C"/>
                      </a:solidFill>
                      <a:prstDash val="solid"/>
                      <a:round/>
                      <a:headEnd len="sm" w="sm" type="none"/>
                      <a:tailEnd len="sm" w="sm" type="none"/>
                    </a:lnL>
                    <a:lnR cap="flat" cmpd="sng" w="4775">
                      <a:solidFill>
                        <a:srgbClr val="2A2B2C"/>
                      </a:solidFill>
                      <a:prstDash val="solid"/>
                      <a:round/>
                      <a:headEnd len="sm" w="sm" type="none"/>
                      <a:tailEnd len="sm" w="sm" type="none"/>
                    </a:lnR>
                    <a:lnT cap="flat" cmpd="sng" w="4775">
                      <a:solidFill>
                        <a:srgbClr val="2A2B2C"/>
                      </a:solidFill>
                      <a:prstDash val="solid"/>
                      <a:round/>
                      <a:headEnd len="sm" w="sm" type="none"/>
                      <a:tailEnd len="sm" w="sm" type="none"/>
                    </a:lnT>
                    <a:lnB cap="flat" cmpd="sng" w="4775">
                      <a:solidFill>
                        <a:srgbClr val="2A2B2C"/>
                      </a:solidFill>
                      <a:prstDash val="solid"/>
                      <a:round/>
                      <a:headEnd len="sm" w="sm" type="none"/>
                      <a:tailEnd len="sm" w="sm" type="none"/>
                    </a:lnB>
                  </a:tcPr>
                </a:tc>
              </a:tr>
            </a:tbl>
          </a:graphicData>
        </a:graphic>
      </p:graphicFrame>
      <p:sp>
        <p:nvSpPr>
          <p:cNvPr id="309" name="Google Shape;309;p22"/>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14" name="Shape 314"/>
        <p:cNvGrpSpPr/>
        <p:nvPr/>
      </p:nvGrpSpPr>
      <p:grpSpPr>
        <a:xfrm>
          <a:off x="0" y="0"/>
          <a:ext cx="0" cy="0"/>
          <a:chOff x="0" y="0"/>
          <a:chExt cx="0" cy="0"/>
        </a:xfrm>
      </p:grpSpPr>
      <p:sp>
        <p:nvSpPr>
          <p:cNvPr id="315" name="Google Shape;315;p23"/>
          <p:cNvSpPr/>
          <p:nvPr/>
        </p:nvSpPr>
        <p:spPr>
          <a:xfrm>
            <a:off x="0" y="0"/>
            <a:ext cx="9144000" cy="48000"/>
          </a:xfrm>
          <a:prstGeom prst="rect">
            <a:avLst/>
          </a:prstGeom>
          <a:solidFill>
            <a:srgbClr val="06B6D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6" name="Google Shape;316;p23"/>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Current UI and functionality</a:t>
            </a:r>
            <a:endParaRPr sz="1100"/>
          </a:p>
        </p:txBody>
      </p:sp>
      <p:cxnSp>
        <p:nvCxnSpPr>
          <p:cNvPr id="317" name="Google Shape;317;p23"/>
          <p:cNvCxnSpPr/>
          <p:nvPr/>
        </p:nvCxnSpPr>
        <p:spPr>
          <a:xfrm>
            <a:off x="308687" y="685800"/>
            <a:ext cx="8526600"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40"/>
              </a:srgbClr>
            </a:outerShdw>
          </a:effectLst>
        </p:spPr>
      </p:cxnSp>
      <p:sp>
        <p:nvSpPr>
          <p:cNvPr id="318" name="Google Shape;318;p23"/>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319" name="Google Shape;319;p23" title="Screenshot 2026-05-23 at 6.13.02 PM.png"/>
          <p:cNvPicPr preferRelativeResize="0"/>
          <p:nvPr/>
        </p:nvPicPr>
        <p:blipFill>
          <a:blip r:embed="rId3">
            <a:alphaModFix/>
          </a:blip>
          <a:stretch>
            <a:fillRect/>
          </a:stretch>
        </p:blipFill>
        <p:spPr>
          <a:xfrm>
            <a:off x="1104900" y="791544"/>
            <a:ext cx="7238707" cy="41424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24" name="Shape 324"/>
        <p:cNvGrpSpPr/>
        <p:nvPr/>
      </p:nvGrpSpPr>
      <p:grpSpPr>
        <a:xfrm>
          <a:off x="0" y="0"/>
          <a:ext cx="0" cy="0"/>
          <a:chOff x="0" y="0"/>
          <a:chExt cx="0" cy="0"/>
        </a:xfrm>
      </p:grpSpPr>
      <p:sp>
        <p:nvSpPr>
          <p:cNvPr id="325" name="Google Shape;325;p24"/>
          <p:cNvSpPr/>
          <p:nvPr/>
        </p:nvSpPr>
        <p:spPr>
          <a:xfrm>
            <a:off x="0" y="0"/>
            <a:ext cx="9144000" cy="48000"/>
          </a:xfrm>
          <a:prstGeom prst="rect">
            <a:avLst/>
          </a:prstGeom>
          <a:solidFill>
            <a:srgbClr val="06B6D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6" name="Google Shape;326;p24"/>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Current UI and functionality</a:t>
            </a:r>
            <a:endParaRPr sz="1100"/>
          </a:p>
        </p:txBody>
      </p:sp>
      <p:cxnSp>
        <p:nvCxnSpPr>
          <p:cNvPr id="327" name="Google Shape;327;p24"/>
          <p:cNvCxnSpPr/>
          <p:nvPr/>
        </p:nvCxnSpPr>
        <p:spPr>
          <a:xfrm>
            <a:off x="308687" y="685800"/>
            <a:ext cx="8526600"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40"/>
              </a:srgbClr>
            </a:outerShdw>
          </a:effectLst>
        </p:spPr>
      </p:cxnSp>
      <p:sp>
        <p:nvSpPr>
          <p:cNvPr id="328" name="Google Shape;328;p24"/>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329" name="Google Shape;329;p24" title="Screenshot 2026-05-23 at 6.14.48 PM.png"/>
          <p:cNvPicPr preferRelativeResize="0"/>
          <p:nvPr/>
        </p:nvPicPr>
        <p:blipFill>
          <a:blip r:embed="rId3">
            <a:alphaModFix/>
          </a:blip>
          <a:stretch>
            <a:fillRect/>
          </a:stretch>
        </p:blipFill>
        <p:spPr>
          <a:xfrm>
            <a:off x="1087250" y="800369"/>
            <a:ext cx="7238707" cy="41424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34" name="Shape 334"/>
        <p:cNvGrpSpPr/>
        <p:nvPr/>
      </p:nvGrpSpPr>
      <p:grpSpPr>
        <a:xfrm>
          <a:off x="0" y="0"/>
          <a:ext cx="0" cy="0"/>
          <a:chOff x="0" y="0"/>
          <a:chExt cx="0" cy="0"/>
        </a:xfrm>
      </p:grpSpPr>
      <p:sp>
        <p:nvSpPr>
          <p:cNvPr id="335" name="Google Shape;335;p25"/>
          <p:cNvSpPr/>
          <p:nvPr/>
        </p:nvSpPr>
        <p:spPr>
          <a:xfrm>
            <a:off x="0" y="0"/>
            <a:ext cx="9144000" cy="48000"/>
          </a:xfrm>
          <a:prstGeom prst="rect">
            <a:avLst/>
          </a:prstGeom>
          <a:solidFill>
            <a:srgbClr val="06B6D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6" name="Google Shape;336;p25"/>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Current UI and functionality</a:t>
            </a:r>
            <a:endParaRPr sz="1100"/>
          </a:p>
        </p:txBody>
      </p:sp>
      <p:cxnSp>
        <p:nvCxnSpPr>
          <p:cNvPr id="337" name="Google Shape;337;p25"/>
          <p:cNvCxnSpPr/>
          <p:nvPr/>
        </p:nvCxnSpPr>
        <p:spPr>
          <a:xfrm>
            <a:off x="308687" y="685800"/>
            <a:ext cx="8526600"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40"/>
              </a:srgbClr>
            </a:outerShdw>
          </a:effectLst>
        </p:spPr>
      </p:cxnSp>
      <p:sp>
        <p:nvSpPr>
          <p:cNvPr id="338" name="Google Shape;338;p25"/>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339" name="Google Shape;339;p25" title="Screenshot 2026-05-23 at 6.15.26 PM.png"/>
          <p:cNvPicPr preferRelativeResize="0"/>
          <p:nvPr/>
        </p:nvPicPr>
        <p:blipFill>
          <a:blip r:embed="rId3">
            <a:alphaModFix/>
          </a:blip>
          <a:stretch>
            <a:fillRect/>
          </a:stretch>
        </p:blipFill>
        <p:spPr>
          <a:xfrm>
            <a:off x="884400" y="791544"/>
            <a:ext cx="7238707" cy="41424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44" name="Shape 344"/>
        <p:cNvGrpSpPr/>
        <p:nvPr/>
      </p:nvGrpSpPr>
      <p:grpSpPr>
        <a:xfrm>
          <a:off x="0" y="0"/>
          <a:ext cx="0" cy="0"/>
          <a:chOff x="0" y="0"/>
          <a:chExt cx="0" cy="0"/>
        </a:xfrm>
      </p:grpSpPr>
      <p:sp>
        <p:nvSpPr>
          <p:cNvPr id="345" name="Google Shape;345;p26"/>
          <p:cNvSpPr/>
          <p:nvPr/>
        </p:nvSpPr>
        <p:spPr>
          <a:xfrm>
            <a:off x="0" y="0"/>
            <a:ext cx="9144000" cy="48000"/>
          </a:xfrm>
          <a:prstGeom prst="rect">
            <a:avLst/>
          </a:prstGeom>
          <a:solidFill>
            <a:srgbClr val="06B6D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6" name="Google Shape;346;p26"/>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Current UI and functionality</a:t>
            </a:r>
            <a:endParaRPr sz="1100"/>
          </a:p>
        </p:txBody>
      </p:sp>
      <p:cxnSp>
        <p:nvCxnSpPr>
          <p:cNvPr id="347" name="Google Shape;347;p26"/>
          <p:cNvCxnSpPr/>
          <p:nvPr/>
        </p:nvCxnSpPr>
        <p:spPr>
          <a:xfrm>
            <a:off x="308687" y="685800"/>
            <a:ext cx="8526600"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40"/>
              </a:srgbClr>
            </a:outerShdw>
          </a:effectLst>
        </p:spPr>
      </p:cxnSp>
      <p:sp>
        <p:nvSpPr>
          <p:cNvPr id="348" name="Google Shape;348;p26"/>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349" name="Google Shape;349;p26" title="Screenshot 2026-05-23 at 6.16.01 PM.png"/>
          <p:cNvPicPr preferRelativeResize="0"/>
          <p:nvPr/>
        </p:nvPicPr>
        <p:blipFill>
          <a:blip r:embed="rId3">
            <a:alphaModFix/>
          </a:blip>
          <a:stretch>
            <a:fillRect/>
          </a:stretch>
        </p:blipFill>
        <p:spPr>
          <a:xfrm>
            <a:off x="952650" y="809169"/>
            <a:ext cx="7238707" cy="41424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54" name="Shape 354"/>
        <p:cNvGrpSpPr/>
        <p:nvPr/>
      </p:nvGrpSpPr>
      <p:grpSpPr>
        <a:xfrm>
          <a:off x="0" y="0"/>
          <a:ext cx="0" cy="0"/>
          <a:chOff x="0" y="0"/>
          <a:chExt cx="0" cy="0"/>
        </a:xfrm>
      </p:grpSpPr>
      <p:sp>
        <p:nvSpPr>
          <p:cNvPr id="355" name="Google Shape;355;p27"/>
          <p:cNvSpPr/>
          <p:nvPr/>
        </p:nvSpPr>
        <p:spPr>
          <a:xfrm>
            <a:off x="0" y="0"/>
            <a:ext cx="9144000" cy="48000"/>
          </a:xfrm>
          <a:prstGeom prst="rect">
            <a:avLst/>
          </a:prstGeom>
          <a:solidFill>
            <a:srgbClr val="06B6D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6" name="Google Shape;356;p27"/>
          <p:cNvSpPr txBox="1"/>
          <p:nvPr/>
        </p:nvSpPr>
        <p:spPr>
          <a:xfrm>
            <a:off x="308687" y="123444"/>
            <a:ext cx="85059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900">
                <a:solidFill>
                  <a:srgbClr val="F0F6FC"/>
                </a:solidFill>
                <a:latin typeface="Calibri"/>
                <a:ea typeface="Calibri"/>
                <a:cs typeface="Calibri"/>
                <a:sym typeface="Calibri"/>
              </a:rPr>
              <a:t>Current UI and functionality</a:t>
            </a:r>
            <a:endParaRPr sz="1100"/>
          </a:p>
        </p:txBody>
      </p:sp>
      <p:cxnSp>
        <p:nvCxnSpPr>
          <p:cNvPr id="357" name="Google Shape;357;p27"/>
          <p:cNvCxnSpPr/>
          <p:nvPr/>
        </p:nvCxnSpPr>
        <p:spPr>
          <a:xfrm>
            <a:off x="308687" y="685800"/>
            <a:ext cx="8526600" cy="0"/>
          </a:xfrm>
          <a:prstGeom prst="straightConnector1">
            <a:avLst/>
          </a:prstGeom>
          <a:noFill/>
          <a:ln cap="flat" cmpd="sng" w="15225">
            <a:solidFill>
              <a:srgbClr val="06B6D4"/>
            </a:solidFill>
            <a:prstDash val="solid"/>
            <a:round/>
            <a:headEnd len="sm" w="sm" type="none"/>
            <a:tailEnd len="sm" w="sm" type="none"/>
          </a:ln>
          <a:effectLst>
            <a:outerShdw blurRad="40000" rotWithShape="0" dir="5400000" dist="20000">
              <a:srgbClr val="000000">
                <a:alpha val="38040"/>
              </a:srgbClr>
            </a:outerShdw>
          </a:effectLst>
        </p:spPr>
      </p:cxnSp>
      <p:sp>
        <p:nvSpPr>
          <p:cNvPr id="358" name="Google Shape;358;p27"/>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359" name="Google Shape;359;p27" title="Screenshot 2026-05-23 at 6.14.06 PM.png"/>
          <p:cNvPicPr preferRelativeResize="0"/>
          <p:nvPr/>
        </p:nvPicPr>
        <p:blipFill>
          <a:blip r:embed="rId3">
            <a:alphaModFix/>
          </a:blip>
          <a:stretch>
            <a:fillRect/>
          </a:stretch>
        </p:blipFill>
        <p:spPr>
          <a:xfrm>
            <a:off x="1096075" y="773894"/>
            <a:ext cx="7238707" cy="41424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64" name="Shape 364"/>
        <p:cNvGrpSpPr/>
        <p:nvPr/>
      </p:nvGrpSpPr>
      <p:grpSpPr>
        <a:xfrm>
          <a:off x="0" y="0"/>
          <a:ext cx="0" cy="0"/>
          <a:chOff x="0" y="0"/>
          <a:chExt cx="0" cy="0"/>
        </a:xfrm>
      </p:grpSpPr>
      <p:sp>
        <p:nvSpPr>
          <p:cNvPr id="365" name="Google Shape;365;p28"/>
          <p:cNvSpPr/>
          <p:nvPr/>
        </p:nvSpPr>
        <p:spPr>
          <a:xfrm>
            <a:off x="0" y="0"/>
            <a:ext cx="9144002" cy="4800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6" name="Google Shape;366;p28"/>
          <p:cNvSpPr/>
          <p:nvPr/>
        </p:nvSpPr>
        <p:spPr>
          <a:xfrm>
            <a:off x="0" y="0"/>
            <a:ext cx="48018" cy="5143500"/>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7" name="Google Shape;367;p28"/>
          <p:cNvSpPr txBox="1"/>
          <p:nvPr/>
        </p:nvSpPr>
        <p:spPr>
          <a:xfrm>
            <a:off x="308687" y="150876"/>
            <a:ext cx="8231659"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3000" u="none" cap="none" strike="noStrike">
                <a:solidFill>
                  <a:srgbClr val="F0F6FC"/>
                </a:solidFill>
                <a:latin typeface="Calibri"/>
                <a:ea typeface="Calibri"/>
                <a:cs typeface="Calibri"/>
                <a:sym typeface="Calibri"/>
              </a:rPr>
              <a:t>The Vision</a:t>
            </a:r>
            <a:endParaRPr sz="1100"/>
          </a:p>
        </p:txBody>
      </p:sp>
      <p:sp>
        <p:nvSpPr>
          <p:cNvPr id="368" name="Google Shape;368;p28"/>
          <p:cNvSpPr/>
          <p:nvPr/>
        </p:nvSpPr>
        <p:spPr>
          <a:xfrm>
            <a:off x="274389" y="754380"/>
            <a:ext cx="8595224" cy="1097280"/>
          </a:xfrm>
          <a:prstGeom prst="rect">
            <a:avLst/>
          </a:prstGeom>
          <a:solidFill>
            <a:srgbClr val="161B22"/>
          </a:solidFill>
          <a:ln cap="flat" cmpd="sng" w="15225">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9" name="Google Shape;369;p28"/>
          <p:cNvSpPr txBox="1"/>
          <p:nvPr/>
        </p:nvSpPr>
        <p:spPr>
          <a:xfrm>
            <a:off x="445882" y="836676"/>
            <a:ext cx="8300256" cy="9464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700" u="none" cap="none" strike="noStrike">
                <a:solidFill>
                  <a:srgbClr val="F0F6FC"/>
                </a:solidFill>
                <a:latin typeface="Calibri"/>
                <a:ea typeface="Calibri"/>
                <a:cs typeface="Calibri"/>
                <a:sym typeface="Calibri"/>
              </a:rPr>
              <a:t>Quantum-hybrid SaaS for hospital command centers.</a:t>
            </a:r>
            <a:br>
              <a:rPr b="0" i="0" lang="en" sz="1700" u="none" cap="none" strike="noStrike">
                <a:solidFill>
                  <a:srgbClr val="F0F6FC"/>
                </a:solidFill>
                <a:latin typeface="Calibri"/>
                <a:ea typeface="Calibri"/>
                <a:cs typeface="Calibri"/>
                <a:sym typeface="Calibri"/>
              </a:rPr>
            </a:br>
            <a:r>
              <a:rPr b="0" i="0" lang="en" sz="1700" u="none" cap="none" strike="noStrike">
                <a:solidFill>
                  <a:srgbClr val="F0F6FC"/>
                </a:solidFill>
                <a:latin typeface="Calibri"/>
                <a:ea typeface="Calibri"/>
                <a:cs typeface="Calibri"/>
                <a:sym typeface="Calibri"/>
              </a:rPr>
              <a:t>The problem is real. The system runs. The market is India.</a:t>
            </a:r>
            <a:endParaRPr sz="1100"/>
          </a:p>
        </p:txBody>
      </p:sp>
      <p:sp>
        <p:nvSpPr>
          <p:cNvPr id="370" name="Google Shape;370;p28"/>
          <p:cNvSpPr/>
          <p:nvPr/>
        </p:nvSpPr>
        <p:spPr>
          <a:xfrm>
            <a:off x="274389" y="2023110"/>
            <a:ext cx="2092213" cy="397764"/>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1" name="Google Shape;371;p28"/>
          <p:cNvSpPr txBox="1"/>
          <p:nvPr/>
        </p:nvSpPr>
        <p:spPr>
          <a:xfrm>
            <a:off x="274389" y="2043684"/>
            <a:ext cx="2092213"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Phase 2</a:t>
            </a:r>
            <a:br>
              <a:rPr b="1" i="0" lang="en" sz="900" u="none" cap="none" strike="noStrike">
                <a:solidFill>
                  <a:srgbClr val="FFFFFF"/>
                </a:solidFill>
                <a:latin typeface="Calibri"/>
                <a:ea typeface="Calibri"/>
                <a:cs typeface="Calibri"/>
                <a:sym typeface="Calibri"/>
              </a:rPr>
            </a:br>
            <a:r>
              <a:rPr b="1" i="0" lang="en" sz="900" u="none" cap="none" strike="noStrike">
                <a:solidFill>
                  <a:srgbClr val="FFFFFF"/>
                </a:solidFill>
                <a:latin typeface="Calibri"/>
                <a:ea typeface="Calibri"/>
                <a:cs typeface="Calibri"/>
                <a:sym typeface="Calibri"/>
              </a:rPr>
              <a:t>Hackathon</a:t>
            </a:r>
            <a:endParaRPr sz="1100"/>
          </a:p>
        </p:txBody>
      </p:sp>
      <p:sp>
        <p:nvSpPr>
          <p:cNvPr id="372" name="Google Shape;372;p28"/>
          <p:cNvSpPr/>
          <p:nvPr/>
        </p:nvSpPr>
        <p:spPr>
          <a:xfrm>
            <a:off x="274389" y="2455164"/>
            <a:ext cx="2092213" cy="1131570"/>
          </a:xfrm>
          <a:prstGeom prst="rect">
            <a:avLst/>
          </a:prstGeom>
          <a:solidFill>
            <a:srgbClr val="161B22"/>
          </a:solidFill>
          <a:ln cap="flat" cmpd="sng" w="10150">
            <a:solidFill>
              <a:srgbClr val="8B5CF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3" name="Google Shape;373;p28"/>
          <p:cNvSpPr txBox="1"/>
          <p:nvPr/>
        </p:nvSpPr>
        <p:spPr>
          <a:xfrm>
            <a:off x="342986" y="2503170"/>
            <a:ext cx="1955019" cy="10629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Full prototype:</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staff QUBO + live</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dual dashboard</a:t>
            </a:r>
            <a:endParaRPr sz="1100"/>
          </a:p>
        </p:txBody>
      </p:sp>
      <p:sp>
        <p:nvSpPr>
          <p:cNvPr id="374" name="Google Shape;374;p28"/>
          <p:cNvSpPr/>
          <p:nvPr/>
        </p:nvSpPr>
        <p:spPr>
          <a:xfrm>
            <a:off x="2503796" y="2023110"/>
            <a:ext cx="2092213" cy="397764"/>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5" name="Google Shape;375;p28"/>
          <p:cNvSpPr txBox="1"/>
          <p:nvPr/>
        </p:nvSpPr>
        <p:spPr>
          <a:xfrm>
            <a:off x="2503796" y="2043684"/>
            <a:ext cx="2092213"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Q3 2026</a:t>
            </a:r>
            <a:br>
              <a:rPr b="1" i="0" lang="en" sz="900" u="none" cap="none" strike="noStrike">
                <a:solidFill>
                  <a:srgbClr val="FFFFFF"/>
                </a:solidFill>
                <a:latin typeface="Calibri"/>
                <a:ea typeface="Calibri"/>
                <a:cs typeface="Calibri"/>
                <a:sym typeface="Calibri"/>
              </a:rPr>
            </a:br>
            <a:r>
              <a:rPr b="1" i="0" lang="en" sz="900" u="none" cap="none" strike="noStrike">
                <a:solidFill>
                  <a:srgbClr val="FFFFFF"/>
                </a:solidFill>
                <a:latin typeface="Calibri"/>
                <a:ea typeface="Calibri"/>
                <a:cs typeface="Calibri"/>
                <a:sym typeface="Calibri"/>
              </a:rPr>
              <a:t>Pilot</a:t>
            </a:r>
            <a:endParaRPr sz="1100"/>
          </a:p>
        </p:txBody>
      </p:sp>
      <p:sp>
        <p:nvSpPr>
          <p:cNvPr id="376" name="Google Shape;376;p28"/>
          <p:cNvSpPr/>
          <p:nvPr/>
        </p:nvSpPr>
        <p:spPr>
          <a:xfrm>
            <a:off x="2503796" y="2455164"/>
            <a:ext cx="2092213" cy="1131570"/>
          </a:xfrm>
          <a:prstGeom prst="rect">
            <a:avLst/>
          </a:prstGeom>
          <a:solidFill>
            <a:srgbClr val="161B22"/>
          </a:solidFill>
          <a:ln cap="flat" cmpd="sng" w="10150">
            <a:solidFill>
              <a:srgbClr val="06B6D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7" name="Google Shape;377;p28"/>
          <p:cNvSpPr txBox="1"/>
          <p:nvPr/>
        </p:nvSpPr>
        <p:spPr>
          <a:xfrm>
            <a:off x="2572394" y="2503170"/>
            <a:ext cx="1955019" cy="10629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2 tier-2 hospitals,</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Delhi NCR,</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clinical validation</a:t>
            </a:r>
            <a:endParaRPr sz="1100"/>
          </a:p>
        </p:txBody>
      </p:sp>
      <p:sp>
        <p:nvSpPr>
          <p:cNvPr id="378" name="Google Shape;378;p28"/>
          <p:cNvSpPr/>
          <p:nvPr/>
        </p:nvSpPr>
        <p:spPr>
          <a:xfrm>
            <a:off x="4733204" y="2023110"/>
            <a:ext cx="2092213" cy="397764"/>
          </a:xfrm>
          <a:prstGeom prst="rect">
            <a:avLst/>
          </a:prstGeom>
          <a:solidFill>
            <a:srgbClr val="F59E0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9" name="Google Shape;379;p28"/>
          <p:cNvSpPr txBox="1"/>
          <p:nvPr/>
        </p:nvSpPr>
        <p:spPr>
          <a:xfrm>
            <a:off x="4733204" y="2043684"/>
            <a:ext cx="2092213"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Q1 2027</a:t>
            </a:r>
            <a:br>
              <a:rPr b="1" i="0" lang="en" sz="900" u="none" cap="none" strike="noStrike">
                <a:solidFill>
                  <a:srgbClr val="FFFFFF"/>
                </a:solidFill>
                <a:latin typeface="Calibri"/>
                <a:ea typeface="Calibri"/>
                <a:cs typeface="Calibri"/>
                <a:sym typeface="Calibri"/>
              </a:rPr>
            </a:br>
            <a:r>
              <a:rPr b="1" i="0" lang="en" sz="900" u="none" cap="none" strike="noStrike">
                <a:solidFill>
                  <a:srgbClr val="FFFFFF"/>
                </a:solidFill>
                <a:latin typeface="Calibri"/>
                <a:ea typeface="Calibri"/>
                <a:cs typeface="Calibri"/>
                <a:sym typeface="Calibri"/>
              </a:rPr>
              <a:t>SaaS</a:t>
            </a:r>
            <a:endParaRPr sz="1100"/>
          </a:p>
        </p:txBody>
      </p:sp>
      <p:sp>
        <p:nvSpPr>
          <p:cNvPr id="380" name="Google Shape;380;p28"/>
          <p:cNvSpPr/>
          <p:nvPr/>
        </p:nvSpPr>
        <p:spPr>
          <a:xfrm>
            <a:off x="4733204" y="2455164"/>
            <a:ext cx="2092213" cy="1131570"/>
          </a:xfrm>
          <a:prstGeom prst="rect">
            <a:avLst/>
          </a:prstGeom>
          <a:solidFill>
            <a:srgbClr val="161B22"/>
          </a:solidFill>
          <a:ln cap="flat" cmpd="sng" w="10150">
            <a:solidFill>
              <a:srgbClr val="F59E0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1" name="Google Shape;381;p28"/>
          <p:cNvSpPr txBox="1"/>
          <p:nvPr/>
        </p:nvSpPr>
        <p:spPr>
          <a:xfrm>
            <a:off x="4801801" y="2503170"/>
            <a:ext cx="1955019" cy="10629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Hospital command</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center product,</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subscription model</a:t>
            </a:r>
            <a:endParaRPr sz="1100"/>
          </a:p>
        </p:txBody>
      </p:sp>
      <p:sp>
        <p:nvSpPr>
          <p:cNvPr id="382" name="Google Shape;382;p28"/>
          <p:cNvSpPr/>
          <p:nvPr/>
        </p:nvSpPr>
        <p:spPr>
          <a:xfrm>
            <a:off x="6962612" y="2023110"/>
            <a:ext cx="2092213" cy="397764"/>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3" name="Google Shape;383;p28"/>
          <p:cNvSpPr txBox="1"/>
          <p:nvPr/>
        </p:nvSpPr>
        <p:spPr>
          <a:xfrm>
            <a:off x="6962612" y="2043684"/>
            <a:ext cx="2092213" cy="3771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2028+</a:t>
            </a:r>
            <a:br>
              <a:rPr b="1" i="0" lang="en" sz="900" u="none" cap="none" strike="noStrike">
                <a:solidFill>
                  <a:srgbClr val="FFFFFF"/>
                </a:solidFill>
                <a:latin typeface="Calibri"/>
                <a:ea typeface="Calibri"/>
                <a:cs typeface="Calibri"/>
                <a:sym typeface="Calibri"/>
              </a:rPr>
            </a:br>
            <a:r>
              <a:rPr b="1" i="0" lang="en" sz="900" u="none" cap="none" strike="noStrike">
                <a:solidFill>
                  <a:srgbClr val="FFFFFF"/>
                </a:solidFill>
                <a:latin typeface="Calibri"/>
                <a:ea typeface="Calibri"/>
                <a:cs typeface="Calibri"/>
                <a:sym typeface="Calibri"/>
              </a:rPr>
              <a:t>QPU</a:t>
            </a:r>
            <a:endParaRPr sz="1100"/>
          </a:p>
        </p:txBody>
      </p:sp>
      <p:sp>
        <p:nvSpPr>
          <p:cNvPr id="384" name="Google Shape;384;p28"/>
          <p:cNvSpPr/>
          <p:nvPr/>
        </p:nvSpPr>
        <p:spPr>
          <a:xfrm>
            <a:off x="6962612" y="2455164"/>
            <a:ext cx="2092213" cy="1131570"/>
          </a:xfrm>
          <a:prstGeom prst="rect">
            <a:avLst/>
          </a:prstGeom>
          <a:solidFill>
            <a:srgbClr val="161B22"/>
          </a:solidFill>
          <a:ln cap="flat" cmpd="sng" w="10150">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5" name="Google Shape;385;p28"/>
          <p:cNvSpPr txBox="1"/>
          <p:nvPr/>
        </p:nvSpPr>
        <p:spPr>
          <a:xfrm>
            <a:off x="7031209" y="2503170"/>
            <a:ext cx="1955019" cy="106299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F0F6FC"/>
                </a:solidFill>
                <a:latin typeface="Calibri"/>
                <a:ea typeface="Calibri"/>
                <a:cs typeface="Calibri"/>
                <a:sym typeface="Calibri"/>
              </a:rPr>
              <a:t>IBM Eagle</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integration +</a:t>
            </a:r>
            <a:br>
              <a:rPr b="0" i="0" lang="en" sz="1100" u="none" cap="none" strike="noStrike">
                <a:solidFill>
                  <a:srgbClr val="F0F6FC"/>
                </a:solidFill>
                <a:latin typeface="Calibri"/>
                <a:ea typeface="Calibri"/>
                <a:cs typeface="Calibri"/>
                <a:sym typeface="Calibri"/>
              </a:rPr>
            </a:br>
            <a:r>
              <a:rPr b="0" i="0" lang="en" sz="1100" u="none" cap="none" strike="noStrike">
                <a:solidFill>
                  <a:srgbClr val="F0F6FC"/>
                </a:solidFill>
                <a:latin typeface="Calibri"/>
                <a:ea typeface="Calibri"/>
                <a:cs typeface="Calibri"/>
                <a:sym typeface="Calibri"/>
              </a:rPr>
              <a:t>NQM grant</a:t>
            </a:r>
            <a:endParaRPr sz="1100"/>
          </a:p>
        </p:txBody>
      </p:sp>
      <p:cxnSp>
        <p:nvCxnSpPr>
          <p:cNvPr id="386" name="Google Shape;386;p28"/>
          <p:cNvCxnSpPr/>
          <p:nvPr/>
        </p:nvCxnSpPr>
        <p:spPr>
          <a:xfrm>
            <a:off x="308687" y="3737610"/>
            <a:ext cx="8526627" cy="0"/>
          </a:xfrm>
          <a:prstGeom prst="straightConnector1">
            <a:avLst/>
          </a:prstGeom>
          <a:noFill/>
          <a:ln cap="flat" cmpd="sng" w="10150">
            <a:solidFill>
              <a:srgbClr val="8B5CF6"/>
            </a:solidFill>
            <a:prstDash val="solid"/>
            <a:round/>
            <a:headEnd len="sm" w="sm" type="none"/>
            <a:tailEnd len="sm" w="sm" type="none"/>
          </a:ln>
          <a:effectLst>
            <a:outerShdw blurRad="40000" rotWithShape="0" dir="5400000" dist="20000">
              <a:srgbClr val="000000">
                <a:alpha val="38039"/>
              </a:srgbClr>
            </a:outerShdw>
          </a:effectLst>
        </p:spPr>
      </p:cxnSp>
      <p:sp>
        <p:nvSpPr>
          <p:cNvPr id="387" name="Google Shape;387;p28"/>
          <p:cNvSpPr/>
          <p:nvPr/>
        </p:nvSpPr>
        <p:spPr>
          <a:xfrm>
            <a:off x="274389" y="3867912"/>
            <a:ext cx="48018" cy="288036"/>
          </a:xfrm>
          <a:prstGeom prst="rect">
            <a:avLst/>
          </a:prstGeom>
          <a:solidFill>
            <a:srgbClr val="10B98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8" name="Google Shape;388;p28"/>
          <p:cNvSpPr txBox="1"/>
          <p:nvPr/>
        </p:nvSpPr>
        <p:spPr>
          <a:xfrm>
            <a:off x="445882" y="3840480"/>
            <a:ext cx="926062" cy="35661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10B981"/>
                </a:solidFill>
                <a:latin typeface="Calibri"/>
                <a:ea typeface="Calibri"/>
                <a:cs typeface="Calibri"/>
                <a:sym typeface="Calibri"/>
              </a:rPr>
              <a:t>Built:</a:t>
            </a:r>
            <a:endParaRPr sz="1100"/>
          </a:p>
        </p:txBody>
      </p:sp>
      <p:sp>
        <p:nvSpPr>
          <p:cNvPr id="389" name="Google Shape;389;p28"/>
          <p:cNvSpPr txBox="1"/>
          <p:nvPr/>
        </p:nvSpPr>
        <p:spPr>
          <a:xfrm>
            <a:off x="1440540" y="3840480"/>
            <a:ext cx="7408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F0F6FC"/>
                </a:solidFill>
                <a:latin typeface="Calibri"/>
                <a:ea typeface="Calibri"/>
                <a:cs typeface="Calibri"/>
                <a:sym typeface="Calibri"/>
              </a:rPr>
              <a:t>Running code today</a:t>
            </a:r>
            <a:r>
              <a:rPr lang="en" sz="1200">
                <a:solidFill>
                  <a:srgbClr val="F0F6FC"/>
                </a:solidFill>
                <a:latin typeface="Calibri"/>
                <a:ea typeface="Calibri"/>
                <a:cs typeface="Calibri"/>
                <a:sym typeface="Calibri"/>
              </a:rPr>
              <a:t>,</a:t>
            </a:r>
            <a:r>
              <a:rPr b="0" i="0" lang="en" sz="1200" u="none" cap="none" strike="noStrike">
                <a:solidFill>
                  <a:srgbClr val="F0F6FC"/>
                </a:solidFill>
                <a:latin typeface="Calibri"/>
                <a:ea typeface="Calibri"/>
                <a:cs typeface="Calibri"/>
                <a:sym typeface="Calibri"/>
              </a:rPr>
              <a:t> QSVM, QUBO optimizer, dual dashboard.</a:t>
            </a:r>
            <a:endParaRPr sz="1100"/>
          </a:p>
        </p:txBody>
      </p:sp>
      <p:sp>
        <p:nvSpPr>
          <p:cNvPr id="390" name="Google Shape;390;p28"/>
          <p:cNvSpPr/>
          <p:nvPr/>
        </p:nvSpPr>
        <p:spPr>
          <a:xfrm>
            <a:off x="274389" y="4265676"/>
            <a:ext cx="48018" cy="288036"/>
          </a:xfrm>
          <a:prstGeom prst="rect">
            <a:avLst/>
          </a:prstGeom>
          <a:solidFill>
            <a:srgbClr val="06B6D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1" name="Google Shape;391;p28"/>
          <p:cNvSpPr txBox="1"/>
          <p:nvPr/>
        </p:nvSpPr>
        <p:spPr>
          <a:xfrm>
            <a:off x="445882" y="4238244"/>
            <a:ext cx="926062" cy="35661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06B6D4"/>
                </a:solidFill>
                <a:latin typeface="Calibri"/>
                <a:ea typeface="Calibri"/>
                <a:cs typeface="Calibri"/>
                <a:sym typeface="Calibri"/>
              </a:rPr>
              <a:t>Honest:</a:t>
            </a:r>
            <a:endParaRPr sz="1100"/>
          </a:p>
        </p:txBody>
      </p:sp>
      <p:sp>
        <p:nvSpPr>
          <p:cNvPr id="392" name="Google Shape;392;p28"/>
          <p:cNvSpPr txBox="1"/>
          <p:nvPr/>
        </p:nvSpPr>
        <p:spPr>
          <a:xfrm>
            <a:off x="1440540" y="4238244"/>
            <a:ext cx="7408493" cy="35661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F0F6FC"/>
                </a:solidFill>
                <a:latin typeface="Calibri"/>
                <a:ea typeface="Calibri"/>
                <a:cs typeface="Calibri"/>
                <a:sym typeface="Calibri"/>
              </a:rPr>
              <a:t>No quantum speedup claims. Better approximation + QPU portability.</a:t>
            </a:r>
            <a:endParaRPr sz="1100"/>
          </a:p>
        </p:txBody>
      </p:sp>
      <p:sp>
        <p:nvSpPr>
          <p:cNvPr id="393" name="Google Shape;393;p28"/>
          <p:cNvSpPr/>
          <p:nvPr/>
        </p:nvSpPr>
        <p:spPr>
          <a:xfrm>
            <a:off x="274389" y="4663440"/>
            <a:ext cx="48018" cy="288036"/>
          </a:xfrm>
          <a:prstGeom prst="rect">
            <a:avLst/>
          </a:prstGeom>
          <a:solidFill>
            <a:srgbClr val="8B5CF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4" name="Google Shape;394;p28"/>
          <p:cNvSpPr txBox="1"/>
          <p:nvPr/>
        </p:nvSpPr>
        <p:spPr>
          <a:xfrm>
            <a:off x="445882" y="4636008"/>
            <a:ext cx="926062" cy="35661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8B5CF6"/>
                </a:solidFill>
                <a:latin typeface="Calibri"/>
                <a:ea typeface="Calibri"/>
                <a:cs typeface="Calibri"/>
                <a:sym typeface="Calibri"/>
              </a:rPr>
              <a:t>Novel:</a:t>
            </a:r>
            <a:endParaRPr sz="1100"/>
          </a:p>
        </p:txBody>
      </p:sp>
      <p:sp>
        <p:nvSpPr>
          <p:cNvPr id="395" name="Google Shape;395;p28"/>
          <p:cNvSpPr txBox="1"/>
          <p:nvPr/>
        </p:nvSpPr>
        <p:spPr>
          <a:xfrm>
            <a:off x="1440540" y="4636008"/>
            <a:ext cx="7408493" cy="35661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F0F6FC"/>
                </a:solidFill>
                <a:latin typeface="Calibri"/>
                <a:ea typeface="Calibri"/>
                <a:cs typeface="Calibri"/>
                <a:sym typeface="Calibri"/>
              </a:rPr>
              <a:t>Dynamic alpha derivation + two-stage staff QUBO: unpublished at this scale.</a:t>
            </a:r>
            <a:endParaRPr sz="1100"/>
          </a:p>
        </p:txBody>
      </p:sp>
      <p:sp>
        <p:nvSpPr>
          <p:cNvPr id="396" name="Google Shape;396;p28"/>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401" name="Shape 401"/>
        <p:cNvGrpSpPr/>
        <p:nvPr/>
      </p:nvGrpSpPr>
      <p:grpSpPr>
        <a:xfrm>
          <a:off x="0" y="0"/>
          <a:ext cx="0" cy="0"/>
          <a:chOff x="0" y="0"/>
          <a:chExt cx="0" cy="0"/>
        </a:xfrm>
      </p:grpSpPr>
      <p:sp>
        <p:nvSpPr>
          <p:cNvPr id="402" name="Google Shape;402;p29"/>
          <p:cNvSpPr/>
          <p:nvPr/>
        </p:nvSpPr>
        <p:spPr>
          <a:xfrm>
            <a:off x="0" y="0"/>
            <a:ext cx="9144000" cy="48000"/>
          </a:xfrm>
          <a:prstGeom prst="rect">
            <a:avLst/>
          </a:prstGeom>
          <a:solidFill>
            <a:srgbClr val="8B5CF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3" name="Google Shape;403;p29"/>
          <p:cNvSpPr/>
          <p:nvPr/>
        </p:nvSpPr>
        <p:spPr>
          <a:xfrm>
            <a:off x="0" y="0"/>
            <a:ext cx="48000" cy="5143500"/>
          </a:xfrm>
          <a:prstGeom prst="rect">
            <a:avLst/>
          </a:prstGeom>
          <a:solidFill>
            <a:srgbClr val="8B5CF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4" name="Google Shape;404;p29"/>
          <p:cNvSpPr txBox="1"/>
          <p:nvPr/>
        </p:nvSpPr>
        <p:spPr>
          <a:xfrm>
            <a:off x="2102550" y="1910250"/>
            <a:ext cx="4938900" cy="13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solidFill>
                  <a:schemeClr val="lt1"/>
                </a:solidFill>
                <a:latin typeface="Calibri"/>
                <a:ea typeface="Calibri"/>
                <a:cs typeface="Calibri"/>
                <a:sym typeface="Calibri"/>
              </a:rPr>
              <a:t>THANK YOU</a:t>
            </a:r>
            <a:endParaRPr sz="7200">
              <a:solidFill>
                <a:schemeClr val="lt1"/>
              </a:solidFill>
              <a:latin typeface="Calibri"/>
              <a:ea typeface="Calibri"/>
              <a:cs typeface="Calibri"/>
              <a:sym typeface="Calibri"/>
            </a:endParaRPr>
          </a:p>
        </p:txBody>
      </p:sp>
      <p:sp>
        <p:nvSpPr>
          <p:cNvPr id="405" name="Google Shape;405;p29"/>
          <p:cNvSpPr txBox="1"/>
          <p:nvPr>
            <p:ph idx="12" type="sldNum"/>
          </p:nvPr>
        </p:nvSpPr>
        <p:spPr>
          <a:xfrm>
            <a:off x="7543505" y="4869588"/>
            <a:ext cx="16005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